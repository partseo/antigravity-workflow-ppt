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69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62EE0-E59A-4788-B426-5C2528B42449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00F9A-8092-466D-B904-43D866214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74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0F9A-8092-466D-B904-43D8662145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4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5400000">
            <a:off x="-457200" y="-457200"/>
            <a:ext cx="4114800" cy="4114800"/>
          </a:xfrm>
          <a:prstGeom prst="rtTriangle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5400000">
            <a:off x="-182880" y="-182880"/>
            <a:ext cx="2926080" cy="292608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6200000">
            <a:off x="8534095" y="3200400"/>
            <a:ext cx="4114800" cy="4114800"/>
          </a:xfrm>
          <a:prstGeom prst="rtTriangle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6200000">
            <a:off x="9448495" y="4114800"/>
            <a:ext cx="2926080" cy="292608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853135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03120" y="1920240"/>
            <a:ext cx="7982712" cy="36576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03120" y="4754880"/>
            <a:ext cx="7982712" cy="36576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76169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D252D"/>
                </a:solidFill>
                <a:latin typeface="Malgun Gothic"/>
              </a:defRPr>
            </a:pPr>
            <a:r>
              <a:t>라면 자판기 기반 16:9 LCD 광고 플랫폼</a:t>
            </a:r>
          </a:p>
          <a:p>
            <a:pPr>
              <a:defRPr sz="1400"/>
            </a:pPr>
            <a:endParaRPr/>
          </a:p>
          <a:p>
            <a:pPr algn="ctr">
              <a:defRPr sz="2000" b="1">
                <a:solidFill>
                  <a:srgbClr val="DB1124"/>
                </a:solidFill>
                <a:latin typeface="Malgun Gothic"/>
              </a:defRPr>
            </a:pPr>
            <a:r>
              <a:t>식품 자동판매 + 생활공간 광고 네트워크 사업전략</a:t>
            </a:r>
          </a:p>
          <a:p>
            <a:br/>
            <a:r>
              <a:t>투자자 IR 피치덱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1645920" cy="320040"/>
          </a:xfrm>
          <a:prstGeom prst="parallelogram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t>목차 및 주요 아젠다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1920240"/>
            <a:ext cx="731520" cy="731520"/>
          </a:xfrm>
          <a:prstGeom prst="ellips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3474720" cy="15544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t>시장 문제 및 해결방안</a:t>
            </a:r>
          </a:p>
          <a:p>
            <a:br/>
            <a:r>
              <a:t>소상공인 광고의 한계 극복 및</a:t>
            </a:r>
            <a:br/>
            <a:r>
              <a:t>조리 대기시간(2~3분) 매체화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0" y="1920240"/>
            <a:ext cx="731520" cy="731520"/>
          </a:xfrm>
          <a:prstGeom prst="ellips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3474720" cy="15544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t>제품 및 화면 구성 전략</a:t>
            </a:r>
          </a:p>
          <a:p>
            <a:br/>
            <a:r>
              <a:t>16:9 LCD 탑재 라면 자판기 및</a:t>
            </a:r>
            <a:br/>
            <a:r>
              <a:t>6단계 광고/콘텐츠 편성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0" y="4206240"/>
            <a:ext cx="731520" cy="731520"/>
          </a:xfrm>
          <a:prstGeom prst="ellips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114800"/>
            <a:ext cx="3571348" cy="1246495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수익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및 </a:t>
            </a:r>
            <a:r>
              <a:rPr dirty="0" err="1"/>
              <a:t>재무</a:t>
            </a:r>
            <a:r>
              <a:rPr dirty="0"/>
              <a:t> </a:t>
            </a:r>
            <a:r>
              <a:rPr dirty="0" err="1"/>
              <a:t>시뮬레이션</a:t>
            </a:r>
            <a:endParaRPr dirty="0"/>
          </a:p>
          <a:p>
            <a:br>
              <a:rPr dirty="0"/>
            </a:b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마진</a:t>
            </a:r>
            <a:r>
              <a:rPr dirty="0"/>
              <a:t> +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마진</a:t>
            </a:r>
            <a:r>
              <a:rPr dirty="0"/>
              <a:t> +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배분</a:t>
            </a:r>
            <a:br>
              <a:rPr dirty="0"/>
            </a:br>
            <a:r>
              <a:rPr dirty="0"/>
              <a:t>1대 및 100대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수익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75120" y="4206240"/>
            <a:ext cx="731520" cy="731520"/>
          </a:xfrm>
          <a:prstGeom prst="ellips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114800"/>
            <a:ext cx="3474720" cy="15544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t>시장 기회 및 성장 로드맵</a:t>
            </a:r>
          </a:p>
          <a:p>
            <a:br/>
            <a:r>
              <a:t>대학, PC방 등 공간 확장 계획과</a:t>
            </a:r>
            <a:br/>
            <a:r>
              <a:t>전국망 광고 플랫폼으로의 비전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1645920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01.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t>소상공인 광고 한계 및 자판기 수익성 정체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13716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01</a:t>
            </a:r>
          </a:p>
          <a:p>
            <a:br>
              <a:rPr dirty="0"/>
            </a:br>
            <a:r>
              <a:rPr dirty="0" err="1"/>
              <a:t>소상공인</a:t>
            </a:r>
            <a:r>
              <a:rPr dirty="0"/>
              <a:t> </a:t>
            </a:r>
            <a:r>
              <a:rPr dirty="0" err="1"/>
              <a:t>광고의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장벽</a:t>
            </a:r>
            <a:endParaRPr dirty="0"/>
          </a:p>
          <a:p>
            <a:pPr algn="l">
              <a:defRPr sz="1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👉 </a:t>
            </a:r>
            <a:r>
              <a:rPr dirty="0" err="1"/>
              <a:t>비싸고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 </a:t>
            </a:r>
            <a:r>
              <a:rPr dirty="0" err="1"/>
              <a:t>측정이</a:t>
            </a:r>
            <a:r>
              <a:rPr dirty="0"/>
              <a:t> </a:t>
            </a:r>
            <a:r>
              <a:rPr dirty="0" err="1"/>
              <a:t>모호함</a:t>
            </a:r>
            <a:endParaRPr dirty="0"/>
          </a:p>
          <a:p>
            <a:pPr>
              <a:lnSpc>
                <a:spcPct val="150000"/>
              </a:lnSpc>
            </a:pPr>
            <a:br>
              <a:rPr dirty="0"/>
            </a:br>
            <a:r>
              <a:rPr sz="1600" dirty="0" err="1"/>
              <a:t>기존</a:t>
            </a:r>
            <a:r>
              <a:rPr sz="1600" dirty="0"/>
              <a:t> </a:t>
            </a:r>
            <a:r>
              <a:rPr sz="1600" dirty="0" err="1"/>
              <a:t>전단지</a:t>
            </a:r>
            <a:r>
              <a:rPr sz="1600" dirty="0"/>
              <a:t>, </a:t>
            </a:r>
            <a:r>
              <a:rPr sz="1600" dirty="0" err="1"/>
              <a:t>버스</a:t>
            </a:r>
            <a:r>
              <a:rPr sz="1600" dirty="0"/>
              <a:t>, </a:t>
            </a:r>
            <a:r>
              <a:rPr sz="1600" dirty="0" err="1"/>
              <a:t>지하철</a:t>
            </a:r>
            <a:r>
              <a:rPr sz="1600" dirty="0"/>
              <a:t> </a:t>
            </a:r>
            <a:r>
              <a:rPr sz="1600" dirty="0" err="1"/>
              <a:t>광고</a:t>
            </a:r>
            <a:r>
              <a:rPr sz="1600" dirty="0"/>
              <a:t> </a:t>
            </a:r>
            <a:r>
              <a:rPr sz="1600" dirty="0" err="1"/>
              <a:t>등은</a:t>
            </a:r>
            <a:r>
              <a:rPr sz="1600" dirty="0"/>
              <a:t> </a:t>
            </a:r>
            <a:r>
              <a:rPr sz="1600" dirty="0" err="1"/>
              <a:t>초기</a:t>
            </a:r>
            <a:r>
              <a:rPr sz="1600" dirty="0"/>
              <a:t> </a:t>
            </a:r>
            <a:r>
              <a:rPr sz="1600" dirty="0" err="1"/>
              <a:t>비용</a:t>
            </a:r>
            <a:r>
              <a:rPr sz="1600" dirty="0"/>
              <a:t> </a:t>
            </a:r>
            <a:r>
              <a:rPr sz="1600" dirty="0" err="1"/>
              <a:t>부담이</a:t>
            </a:r>
            <a:r>
              <a:rPr sz="1600" dirty="0"/>
              <a:t> </a:t>
            </a:r>
            <a:r>
              <a:rPr sz="1600" dirty="0" err="1"/>
              <a:t>크고</a:t>
            </a:r>
            <a:r>
              <a:rPr sz="1600" dirty="0"/>
              <a:t>, </a:t>
            </a:r>
            <a:r>
              <a:rPr sz="1600" dirty="0" err="1"/>
              <a:t>타겟팅이나</a:t>
            </a:r>
            <a:r>
              <a:rPr sz="1600" dirty="0"/>
              <a:t> </a:t>
            </a:r>
            <a:r>
              <a:rPr sz="1600" dirty="0" err="1"/>
              <a:t>노출</a:t>
            </a:r>
            <a:r>
              <a:rPr sz="1600" dirty="0"/>
              <a:t> </a:t>
            </a:r>
            <a:r>
              <a:rPr sz="1600" dirty="0" err="1"/>
              <a:t>빈도</a:t>
            </a:r>
            <a:r>
              <a:rPr sz="1600" dirty="0"/>
              <a:t> </a:t>
            </a:r>
            <a:r>
              <a:rPr sz="1600" dirty="0" err="1"/>
              <a:t>등의</a:t>
            </a:r>
            <a:r>
              <a:rPr sz="1600" dirty="0"/>
              <a:t> </a:t>
            </a:r>
            <a:r>
              <a:rPr sz="1600" dirty="0" err="1"/>
              <a:t>직접적인</a:t>
            </a:r>
            <a:r>
              <a:rPr sz="1600" dirty="0"/>
              <a:t> </a:t>
            </a:r>
            <a:r>
              <a:rPr sz="1600" dirty="0" err="1"/>
              <a:t>효과</a:t>
            </a:r>
            <a:r>
              <a:rPr sz="1600" dirty="0"/>
              <a:t> </a:t>
            </a:r>
            <a:r>
              <a:rPr sz="1600" dirty="0" err="1"/>
              <a:t>측정이</a:t>
            </a:r>
            <a:r>
              <a:rPr sz="1600" dirty="0"/>
              <a:t> </a:t>
            </a:r>
            <a:r>
              <a:rPr sz="1600" dirty="0" err="1"/>
              <a:t>불가능하여</a:t>
            </a:r>
            <a:r>
              <a:rPr sz="1600" dirty="0"/>
              <a:t> </a:t>
            </a:r>
            <a:r>
              <a:rPr sz="1600" dirty="0" err="1"/>
              <a:t>소상공인</a:t>
            </a:r>
            <a:r>
              <a:rPr sz="1600" dirty="0"/>
              <a:t> </a:t>
            </a:r>
            <a:r>
              <a:rPr sz="1600" dirty="0" err="1"/>
              <a:t>마케팅에</a:t>
            </a:r>
            <a:r>
              <a:rPr sz="1600" dirty="0"/>
              <a:t> </a:t>
            </a:r>
            <a:r>
              <a:rPr sz="1600" dirty="0" err="1"/>
              <a:t>한계가</a:t>
            </a:r>
            <a:r>
              <a:rPr sz="1600" dirty="0"/>
              <a:t> </a:t>
            </a:r>
            <a:r>
              <a:rPr sz="1600" dirty="0" err="1"/>
              <a:t>있음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66160" cy="13716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119985" cy="373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02</a:t>
            </a:r>
          </a:p>
          <a:p>
            <a:br>
              <a:rPr dirty="0"/>
            </a:br>
            <a:r>
              <a:rPr dirty="0" err="1"/>
              <a:t>자판기</a:t>
            </a:r>
            <a:r>
              <a:rPr dirty="0"/>
              <a:t> </a:t>
            </a:r>
            <a:r>
              <a:rPr dirty="0" err="1"/>
              <a:t>운영자의</a:t>
            </a:r>
            <a:r>
              <a:rPr dirty="0"/>
              <a:t> </a:t>
            </a:r>
            <a:r>
              <a:rPr dirty="0" err="1"/>
              <a:t>한정된</a:t>
            </a:r>
            <a:r>
              <a:rPr dirty="0"/>
              <a:t> </a:t>
            </a:r>
            <a:r>
              <a:rPr dirty="0" err="1"/>
              <a:t>수익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pPr algn="l">
              <a:defRPr sz="1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👉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판매</a:t>
            </a:r>
            <a:r>
              <a:rPr dirty="0"/>
              <a:t> 외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수익</a:t>
            </a:r>
            <a:r>
              <a:rPr dirty="0"/>
              <a:t> </a:t>
            </a:r>
            <a:r>
              <a:rPr dirty="0" err="1"/>
              <a:t>부재</a:t>
            </a:r>
            <a:endParaRPr dirty="0"/>
          </a:p>
          <a:p>
            <a:pPr>
              <a:lnSpc>
                <a:spcPct val="150000"/>
              </a:lnSpc>
            </a:pPr>
            <a:br>
              <a:rPr dirty="0"/>
            </a:br>
            <a:r>
              <a:rPr sz="1600" dirty="0" err="1"/>
              <a:t>기존</a:t>
            </a:r>
            <a:r>
              <a:rPr sz="1600" dirty="0"/>
              <a:t> </a:t>
            </a:r>
            <a:r>
              <a:rPr sz="1600" dirty="0" err="1"/>
              <a:t>자판기</a:t>
            </a:r>
            <a:r>
              <a:rPr sz="1600" dirty="0"/>
              <a:t> </a:t>
            </a:r>
            <a:r>
              <a:rPr sz="1600" dirty="0" err="1"/>
              <a:t>운영은</a:t>
            </a:r>
            <a:r>
              <a:rPr sz="1600" dirty="0"/>
              <a:t> </a:t>
            </a:r>
            <a:r>
              <a:rPr sz="1600" dirty="0" err="1"/>
              <a:t>식자재</a:t>
            </a:r>
            <a:r>
              <a:rPr sz="1600" dirty="0"/>
              <a:t> </a:t>
            </a:r>
            <a:r>
              <a:rPr sz="1600" dirty="0" err="1"/>
              <a:t>마진</a:t>
            </a:r>
            <a:r>
              <a:rPr sz="1600" dirty="0"/>
              <a:t>(</a:t>
            </a:r>
            <a:r>
              <a:rPr sz="1600" dirty="0" err="1"/>
              <a:t>라면</a:t>
            </a:r>
            <a:r>
              <a:rPr sz="1600" dirty="0"/>
              <a:t> 등)</a:t>
            </a:r>
            <a:r>
              <a:rPr sz="1600" dirty="0" err="1"/>
              <a:t>에만</a:t>
            </a:r>
            <a:r>
              <a:rPr sz="1600" dirty="0"/>
              <a:t> 100% </a:t>
            </a:r>
            <a:r>
              <a:rPr sz="1600" dirty="0" err="1"/>
              <a:t>의존하고</a:t>
            </a:r>
            <a:r>
              <a:rPr sz="1600" dirty="0"/>
              <a:t> </a:t>
            </a:r>
            <a:r>
              <a:rPr sz="1600" dirty="0" err="1"/>
              <a:t>있어</a:t>
            </a:r>
            <a:r>
              <a:rPr sz="1600" dirty="0"/>
              <a:t>, </a:t>
            </a:r>
            <a:r>
              <a:rPr sz="1600" dirty="0" err="1"/>
              <a:t>물가</a:t>
            </a:r>
            <a:r>
              <a:rPr sz="1600" dirty="0"/>
              <a:t> </a:t>
            </a:r>
            <a:r>
              <a:rPr sz="1600" dirty="0" err="1"/>
              <a:t>상승이나</a:t>
            </a:r>
            <a:r>
              <a:rPr sz="1600" dirty="0"/>
              <a:t> </a:t>
            </a:r>
            <a:r>
              <a:rPr sz="1600" dirty="0" err="1"/>
              <a:t>경쟁</a:t>
            </a:r>
            <a:r>
              <a:rPr sz="1600" dirty="0"/>
              <a:t> </a:t>
            </a:r>
            <a:r>
              <a:rPr sz="1600" dirty="0" err="1"/>
              <a:t>심화</a:t>
            </a:r>
            <a:r>
              <a:rPr sz="1600" dirty="0"/>
              <a:t> 시 </a:t>
            </a:r>
            <a:r>
              <a:rPr sz="1600" dirty="0" err="1"/>
              <a:t>안정적인</a:t>
            </a:r>
            <a:r>
              <a:rPr sz="1600" dirty="0"/>
              <a:t> </a:t>
            </a:r>
            <a:r>
              <a:rPr sz="1600" dirty="0" err="1"/>
              <a:t>추가</a:t>
            </a:r>
            <a:r>
              <a:rPr sz="1600" dirty="0"/>
              <a:t> </a:t>
            </a:r>
            <a:r>
              <a:rPr sz="1600" dirty="0" err="1"/>
              <a:t>마진을</a:t>
            </a:r>
            <a:r>
              <a:rPr sz="1600" dirty="0"/>
              <a:t> </a:t>
            </a:r>
            <a:r>
              <a:rPr sz="1600" dirty="0" err="1"/>
              <a:t>확보할</a:t>
            </a:r>
            <a:r>
              <a:rPr sz="1600" dirty="0"/>
              <a:t> 수 </a:t>
            </a:r>
            <a:r>
              <a:rPr sz="1600" dirty="0" err="1"/>
              <a:t>있는</a:t>
            </a:r>
            <a:r>
              <a:rPr sz="1600" dirty="0"/>
              <a:t> </a:t>
            </a:r>
            <a:r>
              <a:rPr sz="1600" dirty="0" err="1"/>
              <a:t>대안</a:t>
            </a:r>
            <a:r>
              <a:rPr sz="1600" dirty="0"/>
              <a:t> </a:t>
            </a:r>
            <a:r>
              <a:rPr sz="1600" dirty="0" err="1"/>
              <a:t>모델이</a:t>
            </a:r>
            <a:r>
              <a:rPr sz="1600" dirty="0"/>
              <a:t> </a:t>
            </a:r>
            <a:r>
              <a:rPr sz="1600" dirty="0" err="1"/>
              <a:t>부재함</a:t>
            </a:r>
            <a:r>
              <a:rPr sz="1600"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566160" cy="13716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409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03</a:t>
            </a:r>
          </a:p>
          <a:p>
            <a:br>
              <a:rPr dirty="0"/>
            </a:br>
            <a:r>
              <a:rPr dirty="0" err="1"/>
              <a:t>대기시간</a:t>
            </a:r>
            <a:r>
              <a:rPr dirty="0"/>
              <a:t>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매체의</a:t>
            </a:r>
            <a:r>
              <a:rPr dirty="0"/>
              <a:t> </a:t>
            </a:r>
            <a:r>
              <a:rPr dirty="0" err="1"/>
              <a:t>블루오션</a:t>
            </a:r>
            <a:endParaRPr dirty="0"/>
          </a:p>
          <a:p>
            <a:pPr algn="l">
              <a:defRPr sz="14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👉 </a:t>
            </a:r>
            <a:r>
              <a:rPr dirty="0" err="1"/>
              <a:t>조리</a:t>
            </a:r>
            <a:r>
              <a:rPr dirty="0"/>
              <a:t> 2~3분간의 </a:t>
            </a:r>
            <a:r>
              <a:rPr dirty="0" err="1"/>
              <a:t>강렬한</a:t>
            </a:r>
            <a:r>
              <a:rPr dirty="0"/>
              <a:t> </a:t>
            </a:r>
            <a:r>
              <a:rPr dirty="0" err="1"/>
              <a:t>주목도</a:t>
            </a:r>
            <a:endParaRPr dirty="0"/>
          </a:p>
          <a:p>
            <a:pPr>
              <a:lnSpc>
                <a:spcPct val="150000"/>
              </a:lnSpc>
            </a:pPr>
            <a:br>
              <a:rPr dirty="0"/>
            </a:br>
            <a:r>
              <a:rPr sz="1600" dirty="0" err="1"/>
              <a:t>소비자가</a:t>
            </a:r>
            <a:r>
              <a:rPr sz="1600" dirty="0"/>
              <a:t> </a:t>
            </a:r>
            <a:r>
              <a:rPr sz="1600" dirty="0" err="1"/>
              <a:t>자판기</a:t>
            </a:r>
            <a:r>
              <a:rPr sz="1600" dirty="0"/>
              <a:t> </a:t>
            </a:r>
            <a:r>
              <a:rPr sz="1600" dirty="0" err="1"/>
              <a:t>앞에서</a:t>
            </a:r>
            <a:r>
              <a:rPr sz="1600" dirty="0"/>
              <a:t> </a:t>
            </a:r>
            <a:r>
              <a:rPr sz="1600" dirty="0" err="1"/>
              <a:t>음식이</a:t>
            </a:r>
            <a:r>
              <a:rPr sz="1600" dirty="0"/>
              <a:t> </a:t>
            </a:r>
            <a:r>
              <a:rPr sz="1600" dirty="0" err="1"/>
              <a:t>조리되기를</a:t>
            </a:r>
            <a:r>
              <a:rPr sz="1600" dirty="0"/>
              <a:t> </a:t>
            </a:r>
            <a:r>
              <a:rPr sz="1600" dirty="0" err="1"/>
              <a:t>기다리는</a:t>
            </a:r>
            <a:r>
              <a:rPr sz="1600" dirty="0"/>
              <a:t> 2~3분의 </a:t>
            </a:r>
            <a:r>
              <a:rPr sz="1600" dirty="0" err="1"/>
              <a:t>대기</a:t>
            </a:r>
            <a:r>
              <a:rPr sz="1600" dirty="0"/>
              <a:t> </a:t>
            </a:r>
            <a:r>
              <a:rPr sz="1600" dirty="0" err="1"/>
              <a:t>시간은</a:t>
            </a:r>
            <a:r>
              <a:rPr sz="1600" dirty="0"/>
              <a:t> </a:t>
            </a:r>
            <a:r>
              <a:rPr sz="1600" dirty="0" err="1"/>
              <a:t>매우</a:t>
            </a:r>
            <a:r>
              <a:rPr sz="1600" dirty="0"/>
              <a:t> 긴 </a:t>
            </a:r>
            <a:r>
              <a:rPr sz="1600" dirty="0" err="1"/>
              <a:t>체감</a:t>
            </a:r>
            <a:r>
              <a:rPr sz="1600" dirty="0"/>
              <a:t> </a:t>
            </a:r>
            <a:r>
              <a:rPr sz="1600" dirty="0" err="1"/>
              <a:t>시간이지만</a:t>
            </a:r>
            <a:r>
              <a:rPr sz="1600" dirty="0"/>
              <a:t>, </a:t>
            </a:r>
            <a:r>
              <a:rPr sz="1600" dirty="0" err="1"/>
              <a:t>시선을</a:t>
            </a:r>
            <a:r>
              <a:rPr sz="1600" dirty="0"/>
              <a:t> </a:t>
            </a:r>
            <a:r>
              <a:rPr sz="1600" dirty="0" err="1"/>
              <a:t>끌어당기는</a:t>
            </a:r>
            <a:r>
              <a:rPr sz="1600" dirty="0"/>
              <a:t> </a:t>
            </a:r>
            <a:r>
              <a:rPr sz="1600" dirty="0" err="1"/>
              <a:t>전용</a:t>
            </a:r>
            <a:r>
              <a:rPr sz="1600" dirty="0"/>
              <a:t> </a:t>
            </a:r>
            <a:r>
              <a:rPr sz="1600" dirty="0" err="1"/>
              <a:t>광고</a:t>
            </a:r>
            <a:r>
              <a:rPr sz="1600" dirty="0"/>
              <a:t> </a:t>
            </a:r>
            <a:r>
              <a:rPr sz="1600" dirty="0" err="1"/>
              <a:t>매체가</a:t>
            </a:r>
            <a:r>
              <a:rPr sz="1600" dirty="0"/>
              <a:t> </a:t>
            </a:r>
            <a:r>
              <a:rPr sz="1600" dirty="0" err="1"/>
              <a:t>아직</a:t>
            </a:r>
            <a:r>
              <a:rPr sz="1600" dirty="0"/>
              <a:t> </a:t>
            </a:r>
            <a:r>
              <a:rPr sz="1600" dirty="0" err="1"/>
              <a:t>대중화되지</a:t>
            </a:r>
            <a:r>
              <a:rPr sz="1600" dirty="0"/>
              <a:t> </a:t>
            </a:r>
            <a:r>
              <a:rPr sz="1600" dirty="0" err="1"/>
              <a:t>않은</a:t>
            </a:r>
            <a:r>
              <a:rPr sz="1600" dirty="0"/>
              <a:t> </a:t>
            </a:r>
            <a:r>
              <a:rPr sz="1600" dirty="0" err="1"/>
              <a:t>틈새</a:t>
            </a:r>
            <a:r>
              <a:rPr sz="1600" dirty="0"/>
              <a:t> </a:t>
            </a:r>
            <a:r>
              <a:rPr sz="1600" dirty="0" err="1"/>
              <a:t>시장임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1645920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01.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t>조리 대기시간(2~3분) 매체화 및 3대 핵심 수익 모델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1124"/>
                </a:solidFill>
                <a:latin typeface="Malgun Gothic"/>
              </a:defRPr>
            </a:pPr>
            <a:r>
              <a:t>🎯 조리 대기시간 2~3분을 '광고 미디어'로 전환</a:t>
            </a:r>
          </a:p>
          <a:p>
            <a:pPr algn="l">
              <a:defRPr sz="1300" b="0">
                <a:solidFill>
                  <a:srgbClr val="3C3C3C"/>
                </a:solidFill>
                <a:latin typeface="Malgun Gothic"/>
              </a:defRPr>
            </a:pPr>
            <a:r>
              <a:t>라면이 조리되는 동안 이용자의 시선은 자연스럽게 기기 화면에 초집중됩니다. 이 골든타임 동안 16:9 LCD 화면을 통해 타겟화된 광고를 100% 전달합니다.</a:t>
            </a:r>
          </a:p>
          <a:p>
            <a:br/>
            <a:r>
              <a:t>📈 하이브리드 비즈니스 모델로 수익 극대화</a:t>
            </a:r>
          </a:p>
          <a:p>
            <a:pPr algn="l">
              <a:defRPr sz="1300" b="0">
                <a:solidFill>
                  <a:srgbClr val="3C3C3C"/>
                </a:solidFill>
                <a:latin typeface="Malgun Gothic"/>
              </a:defRPr>
            </a:pPr>
            <a:r>
              <a:t>장비 판매로 빠른 현금 흐름을 만들고, 일상 소비재인 라면 판매 마진으로 안정적인 기반 매출을 내며, 매력적인 매체로서의 LCD 광고 플랫폼 반복 수익(Recurring Revenue)을 창출합니다.</a:t>
            </a:r>
          </a:p>
          <a:p>
            <a:br/>
            <a:r>
              <a:t>🤝 본사·운영자·장소제공자 상생 생태계 구축</a:t>
            </a:r>
          </a:p>
          <a:p>
            <a:pPr algn="l">
              <a:defRPr sz="1300" b="0">
                <a:solidFill>
                  <a:srgbClr val="3C3C3C"/>
                </a:solidFill>
                <a:latin typeface="Malgun Gothic"/>
              </a:defRPr>
            </a:pPr>
            <a:r>
              <a:t>광고 수익을 본사(40%), 가맹 운영자(40%), 입점 장소제공자(20%)가 합리적으로 분배하여, 기기의 설치 확장이 신속하고 자발적으로 이뤄지는 유통 생태계를 확보합니다.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1206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137160" cy="118872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52D"/>
                </a:solidFill>
                <a:latin typeface="Malgun Gothic"/>
              </a:defRPr>
            </a:pPr>
            <a:r>
              <a:t>① 장비 판매수익 (1차 수익)</a:t>
            </a:r>
          </a:p>
          <a:p>
            <a:pPr algn="l"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t>자판기 유통 마진 (대당 150만 원 이익)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108960"/>
            <a:ext cx="51206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3108960"/>
            <a:ext cx="137160" cy="118872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52D"/>
                </a:solidFill>
                <a:latin typeface="Malgun Gothic"/>
              </a:defRPr>
            </a:pPr>
            <a:r>
              <a:t>② 라면 판매수익 (반복 수익)</a:t>
            </a:r>
          </a:p>
          <a:p>
            <a:pPr algn="l"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t>식재료 및 자원 공급 마진 (개당 2,350원 이익)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572000"/>
            <a:ext cx="51206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4572000"/>
            <a:ext cx="137160" cy="118872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46634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1124"/>
                </a:solidFill>
                <a:latin typeface="Malgun Gothic"/>
              </a:defRPr>
            </a:pPr>
            <a:r>
              <a:t>③ LCD 광고수익 (플랫폼 수익)</a:t>
            </a:r>
          </a:p>
          <a:p>
            <a:pPr algn="l"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t>대기시간 광고 송출 및 수수료 수취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2253574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02. PRODUCT &amp;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296045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16:9 LCD </a:t>
            </a:r>
            <a:r>
              <a:rPr dirty="0" err="1"/>
              <a:t>탑재</a:t>
            </a:r>
            <a:r>
              <a:rPr dirty="0"/>
              <a:t>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자판기</a:t>
            </a:r>
            <a:r>
              <a:rPr dirty="0"/>
              <a:t> 및 6구간 </a:t>
            </a:r>
            <a:r>
              <a:rPr dirty="0" err="1"/>
              <a:t>편성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199" y="1645920"/>
            <a:ext cx="45298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📺 </a:t>
            </a:r>
            <a:r>
              <a:rPr dirty="0" err="1"/>
              <a:t>하드웨어</a:t>
            </a:r>
            <a:r>
              <a:rPr dirty="0"/>
              <a:t> </a:t>
            </a:r>
            <a:r>
              <a:rPr dirty="0" err="1"/>
              <a:t>스펙</a:t>
            </a:r>
            <a:r>
              <a:rPr dirty="0"/>
              <a:t> 및 </a:t>
            </a:r>
            <a:r>
              <a:rPr dirty="0" err="1"/>
              <a:t>특장점</a:t>
            </a:r>
            <a:endParaRPr dirty="0"/>
          </a:p>
          <a:p>
            <a:br>
              <a:rPr dirty="0"/>
            </a:br>
            <a:r>
              <a:rPr sz="1600" dirty="0"/>
              <a:t>• 16:9 </a:t>
            </a:r>
            <a:r>
              <a:rPr sz="1600" dirty="0" err="1"/>
              <a:t>고해상도</a:t>
            </a:r>
            <a:r>
              <a:rPr sz="1600" dirty="0"/>
              <a:t> LCD </a:t>
            </a:r>
            <a:r>
              <a:rPr sz="1600" dirty="0" err="1"/>
              <a:t>디스플레이</a:t>
            </a:r>
            <a:r>
              <a:rPr sz="1600" dirty="0"/>
              <a:t> </a:t>
            </a:r>
            <a:r>
              <a:rPr sz="1600" dirty="0" err="1"/>
              <a:t>탑재</a:t>
            </a:r>
            <a:br>
              <a:rPr sz="1600" dirty="0"/>
            </a:br>
            <a:endParaRPr lang="en-US" sz="1600" dirty="0"/>
          </a:p>
          <a:p>
            <a:r>
              <a:rPr sz="1600" dirty="0"/>
              <a:t>• </a:t>
            </a:r>
            <a:r>
              <a:rPr sz="1600" dirty="0" err="1"/>
              <a:t>실시간</a:t>
            </a:r>
            <a:r>
              <a:rPr sz="1600" dirty="0"/>
              <a:t> </a:t>
            </a:r>
            <a:r>
              <a:rPr sz="1600" dirty="0" err="1"/>
              <a:t>광고</a:t>
            </a:r>
            <a:r>
              <a:rPr sz="1600" dirty="0"/>
              <a:t> </a:t>
            </a:r>
            <a:r>
              <a:rPr sz="1600" dirty="0" err="1"/>
              <a:t>송출</a:t>
            </a:r>
            <a:r>
              <a:rPr sz="1600" dirty="0"/>
              <a:t> </a:t>
            </a:r>
            <a:r>
              <a:rPr sz="1600" dirty="0" err="1"/>
              <a:t>제어를</a:t>
            </a:r>
            <a:r>
              <a:rPr sz="1600" dirty="0"/>
              <a:t> </a:t>
            </a:r>
            <a:r>
              <a:rPr sz="1600" dirty="0" err="1"/>
              <a:t>위한</a:t>
            </a:r>
            <a:r>
              <a:rPr sz="1600" dirty="0"/>
              <a:t> </a:t>
            </a:r>
            <a:r>
              <a:rPr sz="1600" dirty="0" err="1"/>
              <a:t>임베디드</a:t>
            </a:r>
            <a:r>
              <a:rPr sz="1600" dirty="0"/>
              <a:t> </a:t>
            </a:r>
            <a:r>
              <a:rPr sz="1600" dirty="0" err="1"/>
              <a:t>모듈</a:t>
            </a:r>
            <a:br>
              <a:rPr sz="1600" dirty="0"/>
            </a:br>
            <a:endParaRPr lang="en-US" sz="1600" dirty="0"/>
          </a:p>
          <a:p>
            <a:r>
              <a:rPr sz="1600" dirty="0"/>
              <a:t>• </a:t>
            </a:r>
            <a:r>
              <a:rPr sz="1600" dirty="0" err="1"/>
              <a:t>조리</a:t>
            </a:r>
            <a:r>
              <a:rPr sz="1600" dirty="0"/>
              <a:t> </a:t>
            </a:r>
            <a:r>
              <a:rPr sz="1600" dirty="0" err="1"/>
              <a:t>진행률</a:t>
            </a:r>
            <a:r>
              <a:rPr sz="1600" dirty="0"/>
              <a:t> </a:t>
            </a:r>
            <a:r>
              <a:rPr sz="1600" dirty="0" err="1"/>
              <a:t>안내</a:t>
            </a:r>
            <a:r>
              <a:rPr sz="1600" dirty="0"/>
              <a:t> 및 </a:t>
            </a:r>
            <a:r>
              <a:rPr sz="1600" dirty="0" err="1"/>
              <a:t>안전</a:t>
            </a:r>
            <a:r>
              <a:rPr sz="1600" dirty="0"/>
              <a:t> </a:t>
            </a:r>
            <a:r>
              <a:rPr sz="1600" dirty="0" err="1"/>
              <a:t>수칙</a:t>
            </a:r>
            <a:r>
              <a:rPr sz="1600" dirty="0"/>
              <a:t> </a:t>
            </a:r>
            <a:r>
              <a:rPr sz="1600" dirty="0" err="1"/>
              <a:t>실시간</a:t>
            </a:r>
            <a:r>
              <a:rPr sz="1600" dirty="0"/>
              <a:t> </a:t>
            </a:r>
            <a:r>
              <a:rPr sz="1600" dirty="0" err="1"/>
              <a:t>표기</a:t>
            </a:r>
            <a:br>
              <a:rPr sz="1600" dirty="0"/>
            </a:br>
            <a:endParaRPr lang="en-US" sz="1600" dirty="0"/>
          </a:p>
          <a:p>
            <a:r>
              <a:rPr sz="1600" dirty="0"/>
              <a:t>• </a:t>
            </a:r>
            <a:r>
              <a:rPr sz="1600" dirty="0" err="1"/>
              <a:t>광고</a:t>
            </a:r>
            <a:r>
              <a:rPr sz="1600" dirty="0"/>
              <a:t> </a:t>
            </a:r>
            <a:r>
              <a:rPr sz="1600" dirty="0" err="1"/>
              <a:t>시청</a:t>
            </a:r>
            <a:r>
              <a:rPr sz="1600" dirty="0"/>
              <a:t> 후 </a:t>
            </a:r>
            <a:r>
              <a:rPr sz="1600" dirty="0" err="1"/>
              <a:t>스캔</a:t>
            </a:r>
            <a:r>
              <a:rPr sz="1600" dirty="0"/>
              <a:t> </a:t>
            </a:r>
            <a:r>
              <a:rPr sz="1600" dirty="0" err="1"/>
              <a:t>가능한</a:t>
            </a:r>
            <a:r>
              <a:rPr sz="1600" dirty="0"/>
              <a:t> QR </a:t>
            </a:r>
            <a:r>
              <a:rPr sz="1600" dirty="0" err="1"/>
              <a:t>쿠폰</a:t>
            </a:r>
            <a:r>
              <a:rPr sz="1600" dirty="0"/>
              <a:t>/</a:t>
            </a:r>
            <a:r>
              <a:rPr sz="1600" dirty="0" err="1"/>
              <a:t>이벤트</a:t>
            </a:r>
            <a:r>
              <a:rPr sz="1600" dirty="0"/>
              <a:t> </a:t>
            </a:r>
            <a:r>
              <a:rPr sz="1600" dirty="0" err="1"/>
              <a:t>연동</a:t>
            </a:r>
            <a:br>
              <a:rPr sz="1600" dirty="0"/>
            </a:br>
            <a:endParaRPr lang="en-US" sz="1600" dirty="0"/>
          </a:p>
          <a:p>
            <a:r>
              <a:rPr sz="1600" dirty="0"/>
              <a:t>• 1회 </a:t>
            </a:r>
            <a:r>
              <a:rPr sz="1600" dirty="0" err="1"/>
              <a:t>조리</a:t>
            </a:r>
            <a:r>
              <a:rPr sz="1600" dirty="0"/>
              <a:t> 시 4~8개 </a:t>
            </a:r>
            <a:r>
              <a:rPr sz="1600" dirty="0" err="1"/>
              <a:t>광고</a:t>
            </a:r>
            <a:r>
              <a:rPr sz="1600" dirty="0"/>
              <a:t> </a:t>
            </a:r>
            <a:r>
              <a:rPr sz="1600" dirty="0" err="1"/>
              <a:t>유연</a:t>
            </a:r>
            <a:r>
              <a:rPr sz="1600" dirty="0"/>
              <a:t> </a:t>
            </a:r>
            <a:r>
              <a:rPr sz="1600" dirty="0" err="1"/>
              <a:t>편성</a:t>
            </a:r>
            <a:r>
              <a:rPr sz="1600" dirty="0"/>
              <a:t> </a:t>
            </a:r>
            <a:r>
              <a:rPr sz="1600" dirty="0" err="1"/>
              <a:t>지원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B1124"/>
                </a:solidFill>
                <a:latin typeface="Malgun Gothic"/>
              </a:defRPr>
            </a:pPr>
            <a:r>
              <a:t>📋 조리 3분 동안의 체계적 LCD 화면 구성 (6구간)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37744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0" y="2377440"/>
            <a:ext cx="2103120" cy="3200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1구간 (10s)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201168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조리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안내</a:t>
            </a:r>
            <a:endParaRPr lang="ko-KR" altLang="en-US" dirty="0"/>
          </a:p>
          <a:p>
            <a:br>
              <a:rPr lang="ko-KR" altLang="en-US" dirty="0"/>
            </a:br>
            <a:r>
              <a:rPr lang="ko-KR" altLang="en-US" sz="1600" dirty="0"/>
              <a:t>안전한 이용 방법 및</a:t>
            </a:r>
            <a:br>
              <a:rPr lang="ko-KR" altLang="en-US" sz="1600" dirty="0"/>
            </a:br>
            <a:r>
              <a:rPr lang="ko-KR" altLang="en-US" sz="1600" dirty="0"/>
              <a:t>대기 준비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37744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2377440"/>
            <a:ext cx="2103120" cy="32004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2구간 (45s)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743200"/>
            <a:ext cx="1920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광고</a:t>
            </a:r>
            <a:r>
              <a:rPr dirty="0"/>
              <a:t> 2~3개 </a:t>
            </a:r>
            <a:r>
              <a:rPr dirty="0" err="1"/>
              <a:t>송출</a:t>
            </a:r>
            <a:endParaRPr dirty="0"/>
          </a:p>
          <a:p>
            <a:br>
              <a:rPr dirty="0"/>
            </a:br>
            <a:r>
              <a:rPr sz="1600" dirty="0"/>
              <a:t>15초 </a:t>
            </a:r>
            <a:r>
              <a:rPr sz="1600" dirty="0" err="1"/>
              <a:t>타겟</a:t>
            </a:r>
            <a:r>
              <a:rPr sz="1600" dirty="0"/>
              <a:t> </a:t>
            </a:r>
            <a:r>
              <a:rPr sz="1600" dirty="0" err="1"/>
              <a:t>광고</a:t>
            </a:r>
            <a:br>
              <a:rPr sz="1600" dirty="0"/>
            </a:br>
            <a:r>
              <a:rPr sz="1600" dirty="0" err="1"/>
              <a:t>순차적</a:t>
            </a:r>
            <a:r>
              <a:rPr sz="1600" dirty="0"/>
              <a:t> </a:t>
            </a:r>
            <a:r>
              <a:rPr sz="1600" dirty="0" err="1"/>
              <a:t>재생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9418320" y="237744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18320" y="2377440"/>
            <a:ext cx="2103120" cy="3200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3구간 (15s)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743200"/>
            <a:ext cx="1920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조리</a:t>
            </a:r>
            <a:r>
              <a:rPr dirty="0"/>
              <a:t>/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br>
              <a:rPr dirty="0"/>
            </a:br>
            <a:r>
              <a:rPr sz="1600" dirty="0" err="1"/>
              <a:t>진행률</a:t>
            </a:r>
            <a:r>
              <a:rPr sz="1600" dirty="0"/>
              <a:t> </a:t>
            </a:r>
            <a:r>
              <a:rPr sz="1600" dirty="0" err="1"/>
              <a:t>피드백</a:t>
            </a:r>
            <a:r>
              <a:rPr sz="1600" dirty="0"/>
              <a:t> 및</a:t>
            </a:r>
            <a:br>
              <a:rPr sz="1600" dirty="0"/>
            </a:br>
            <a:r>
              <a:rPr sz="1600" dirty="0" err="1"/>
              <a:t>화상</a:t>
            </a:r>
            <a:r>
              <a:rPr sz="1600" dirty="0"/>
              <a:t> </a:t>
            </a:r>
            <a:r>
              <a:rPr sz="1600" dirty="0" err="1"/>
              <a:t>주의</a:t>
            </a:r>
            <a:r>
              <a:rPr sz="1600" dirty="0"/>
              <a:t> </a:t>
            </a:r>
            <a:r>
              <a:rPr sz="1600" dirty="0" err="1"/>
              <a:t>경고</a:t>
            </a:r>
            <a:endParaRPr sz="1600" dirty="0"/>
          </a:p>
        </p:txBody>
      </p:sp>
      <p:sp>
        <p:nvSpPr>
          <p:cNvPr id="17" name="Rounded Rectangle 16"/>
          <p:cNvSpPr/>
          <p:nvPr/>
        </p:nvSpPr>
        <p:spPr>
          <a:xfrm>
            <a:off x="4846320" y="429768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0" y="4297680"/>
            <a:ext cx="2103120" cy="32004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4구간 (45s)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663440"/>
            <a:ext cx="1920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광고</a:t>
            </a:r>
            <a:r>
              <a:rPr dirty="0"/>
              <a:t> 2~3개 </a:t>
            </a:r>
            <a:r>
              <a:rPr dirty="0" err="1"/>
              <a:t>송출</a:t>
            </a:r>
            <a:endParaRPr dirty="0"/>
          </a:p>
          <a:p>
            <a:br>
              <a:rPr dirty="0"/>
            </a:br>
            <a:r>
              <a:rPr sz="1600" dirty="0"/>
              <a:t>2차 </a:t>
            </a:r>
            <a:r>
              <a:rPr sz="1600" dirty="0" err="1"/>
              <a:t>타겟</a:t>
            </a:r>
            <a:r>
              <a:rPr sz="1600" dirty="0"/>
              <a:t> </a:t>
            </a:r>
            <a:r>
              <a:rPr sz="1600" dirty="0" err="1"/>
              <a:t>광고</a:t>
            </a:r>
            <a:br>
              <a:rPr sz="1600" dirty="0"/>
            </a:br>
            <a:r>
              <a:rPr sz="1600" dirty="0" err="1"/>
              <a:t>집중</a:t>
            </a:r>
            <a:r>
              <a:rPr sz="1600" dirty="0"/>
              <a:t> </a:t>
            </a:r>
            <a:r>
              <a:rPr sz="1600" dirty="0" err="1"/>
              <a:t>노출</a:t>
            </a:r>
            <a:endParaRPr sz="1600" dirty="0"/>
          </a:p>
        </p:txBody>
      </p:sp>
      <p:sp>
        <p:nvSpPr>
          <p:cNvPr id="20" name="Rounded Rectangle 19"/>
          <p:cNvSpPr/>
          <p:nvPr/>
        </p:nvSpPr>
        <p:spPr>
          <a:xfrm>
            <a:off x="7132320" y="429768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297680"/>
            <a:ext cx="2103120" cy="3200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5구간 (20s)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663440"/>
            <a:ext cx="21945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QR </a:t>
            </a:r>
            <a:r>
              <a:rPr dirty="0" err="1"/>
              <a:t>쿠폰</a:t>
            </a:r>
            <a:r>
              <a:rPr dirty="0"/>
              <a:t> &amp; </a:t>
            </a:r>
            <a:r>
              <a:rPr dirty="0" err="1"/>
              <a:t>이벤트</a:t>
            </a:r>
            <a:br>
              <a:rPr lang="en-US" dirty="0"/>
            </a:br>
            <a:endParaRPr dirty="0"/>
          </a:p>
          <a:p>
            <a:r>
              <a:rPr sz="1600" dirty="0" err="1"/>
              <a:t>브랜드</a:t>
            </a:r>
            <a:r>
              <a:rPr sz="1600" dirty="0"/>
              <a:t> </a:t>
            </a:r>
            <a:r>
              <a:rPr sz="1600" dirty="0" err="1"/>
              <a:t>쿠폰</a:t>
            </a:r>
            <a:r>
              <a:rPr sz="1600" dirty="0"/>
              <a:t> </a:t>
            </a:r>
            <a:r>
              <a:rPr sz="1600" dirty="0" err="1"/>
              <a:t>노출</a:t>
            </a:r>
            <a:r>
              <a:rPr lang="en-US" sz="1600" dirty="0"/>
              <a:t> </a:t>
            </a:r>
            <a:r>
              <a:rPr lang="ko-KR" altLang="en-US" sz="1600" dirty="0"/>
              <a:t>및</a:t>
            </a:r>
            <a:br>
              <a:rPr sz="1600" dirty="0"/>
            </a:br>
            <a:r>
              <a:rPr sz="1600" dirty="0" err="1"/>
              <a:t>스마트폰</a:t>
            </a:r>
            <a:r>
              <a:rPr sz="1600" dirty="0"/>
              <a:t> </a:t>
            </a:r>
            <a:r>
              <a:rPr sz="1600" dirty="0" err="1"/>
              <a:t>스캔</a:t>
            </a:r>
            <a:r>
              <a:rPr sz="1600" dirty="0"/>
              <a:t> </a:t>
            </a:r>
            <a:r>
              <a:rPr sz="1600" dirty="0" err="1"/>
              <a:t>유도</a:t>
            </a:r>
            <a:r>
              <a:rPr lang="en-US" sz="1600" dirty="0"/>
              <a:t> </a:t>
            </a:r>
            <a:endParaRPr sz="1600" dirty="0"/>
          </a:p>
        </p:txBody>
      </p:sp>
      <p:sp>
        <p:nvSpPr>
          <p:cNvPr id="23" name="Rounded Rectangle 22"/>
          <p:cNvSpPr/>
          <p:nvPr/>
        </p:nvSpPr>
        <p:spPr>
          <a:xfrm>
            <a:off x="9418320" y="4297680"/>
            <a:ext cx="2103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18320" y="4297680"/>
            <a:ext cx="2103120" cy="3200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6구간 (15s)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663440"/>
            <a:ext cx="1920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조리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br>
              <a:rPr dirty="0"/>
            </a:br>
            <a:r>
              <a:rPr sz="1600" dirty="0" err="1"/>
              <a:t>음식</a:t>
            </a:r>
            <a:r>
              <a:rPr sz="1600" dirty="0"/>
              <a:t> </a:t>
            </a:r>
            <a:r>
              <a:rPr sz="1600" dirty="0" err="1"/>
              <a:t>취출</a:t>
            </a:r>
            <a:r>
              <a:rPr sz="1600" dirty="0"/>
              <a:t> </a:t>
            </a:r>
            <a:r>
              <a:rPr sz="1600" dirty="0" err="1"/>
              <a:t>유도</a:t>
            </a:r>
            <a:r>
              <a:rPr sz="1600" dirty="0"/>
              <a:t> 및</a:t>
            </a:r>
            <a:br>
              <a:rPr sz="1600" dirty="0"/>
            </a:br>
            <a:r>
              <a:rPr sz="1600" dirty="0" err="1"/>
              <a:t>감사</a:t>
            </a:r>
            <a:r>
              <a:rPr sz="1600" dirty="0"/>
              <a:t> </a:t>
            </a:r>
            <a:r>
              <a:rPr sz="1600" dirty="0" err="1"/>
              <a:t>인사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1645920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03.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t>1대당 거래마진 및 광고 플랫폼 상생 배분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64008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자판기 장비 판매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2649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1124"/>
                </a:solidFill>
                <a:latin typeface="Malgun Gothic"/>
              </a:defRPr>
            </a:pPr>
            <a:r>
              <a:rPr dirty="0" err="1"/>
              <a:t>마진율</a:t>
            </a:r>
            <a:r>
              <a:rPr dirty="0"/>
              <a:t> 30.0%</a:t>
            </a:r>
          </a:p>
          <a:p>
            <a:pPr>
              <a:defRPr sz="600"/>
            </a:pPr>
            <a:endParaRPr dirty="0"/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매입</a:t>
            </a:r>
            <a:r>
              <a:rPr dirty="0"/>
              <a:t> </a:t>
            </a:r>
            <a:r>
              <a:rPr dirty="0" err="1"/>
              <a:t>원가</a:t>
            </a:r>
            <a:r>
              <a:rPr dirty="0"/>
              <a:t>: 350만 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판매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: 500만 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대당</a:t>
            </a:r>
            <a:r>
              <a:rPr dirty="0"/>
              <a:t> </a:t>
            </a:r>
            <a:r>
              <a:rPr dirty="0" err="1"/>
              <a:t>유통이익</a:t>
            </a:r>
            <a:r>
              <a:rPr dirty="0"/>
              <a:t>: 150만 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매입가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마진율</a:t>
            </a:r>
            <a:r>
              <a:rPr dirty="0"/>
              <a:t>: 42.9%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하드웨어</a:t>
            </a:r>
            <a:r>
              <a:rPr dirty="0"/>
              <a:t> </a:t>
            </a:r>
            <a:r>
              <a:rPr dirty="0" err="1"/>
              <a:t>보급을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31520" y="5394959"/>
            <a:ext cx="3017520" cy="45720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150만 원 이익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566160" cy="64008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라면 식자재 공급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00400" cy="2649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1124"/>
                </a:solidFill>
                <a:latin typeface="Malgun Gothic"/>
              </a:defRPr>
            </a:pPr>
            <a:r>
              <a:rPr dirty="0" err="1"/>
              <a:t>마진율</a:t>
            </a:r>
            <a:r>
              <a:rPr dirty="0"/>
              <a:t> 58.7%</a:t>
            </a:r>
          </a:p>
          <a:p>
            <a:pPr>
              <a:defRPr sz="600"/>
            </a:pPr>
            <a:endParaRPr dirty="0"/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매입</a:t>
            </a:r>
            <a:r>
              <a:rPr dirty="0"/>
              <a:t> </a:t>
            </a:r>
            <a:r>
              <a:rPr dirty="0" err="1"/>
              <a:t>원가</a:t>
            </a:r>
            <a:r>
              <a:rPr dirty="0"/>
              <a:t>: 1,650원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판매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: 4,000원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개당</a:t>
            </a:r>
            <a:r>
              <a:rPr dirty="0"/>
              <a:t> </a:t>
            </a:r>
            <a:r>
              <a:rPr dirty="0" err="1"/>
              <a:t>유통이익</a:t>
            </a:r>
            <a:r>
              <a:rPr dirty="0"/>
              <a:t>: 2,350원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매입가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마진율</a:t>
            </a:r>
            <a:r>
              <a:rPr dirty="0"/>
              <a:t>: 142.4%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기기</a:t>
            </a:r>
            <a:r>
              <a:rPr dirty="0"/>
              <a:t> </a:t>
            </a:r>
            <a:r>
              <a:rPr dirty="0" err="1"/>
              <a:t>가동에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고정적</a:t>
            </a:r>
            <a:r>
              <a:rPr dirty="0"/>
              <a:t> </a:t>
            </a:r>
            <a:r>
              <a:rPr dirty="0" err="1"/>
              <a:t>원재료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(</a:t>
            </a:r>
            <a:r>
              <a:rPr dirty="0" err="1"/>
              <a:t>원재료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독점</a:t>
            </a:r>
            <a:r>
              <a:rPr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394959"/>
            <a:ext cx="3017520" cy="45720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2,350원 이익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66160" cy="64008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광고 매출 상생 배분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200400" cy="2649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1124"/>
                </a:solidFill>
                <a:latin typeface="Malgun Gothic"/>
              </a:defRPr>
            </a:pP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지분</a:t>
            </a:r>
            <a:r>
              <a:rPr dirty="0"/>
              <a:t> 40%</a:t>
            </a:r>
          </a:p>
          <a:p>
            <a:pPr>
              <a:defRPr sz="600"/>
            </a:pPr>
            <a:endParaRPr dirty="0"/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본사</a:t>
            </a:r>
            <a:r>
              <a:rPr dirty="0"/>
              <a:t>(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): 40%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자판기</a:t>
            </a:r>
            <a:r>
              <a:rPr dirty="0"/>
              <a:t> </a:t>
            </a:r>
            <a:r>
              <a:rPr dirty="0" err="1"/>
              <a:t>운영자</a:t>
            </a:r>
            <a:r>
              <a:rPr dirty="0"/>
              <a:t>: 40%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장소</a:t>
            </a:r>
            <a:r>
              <a:rPr dirty="0"/>
              <a:t> </a:t>
            </a:r>
            <a:r>
              <a:rPr dirty="0" err="1"/>
              <a:t>제공자</a:t>
            </a:r>
            <a:r>
              <a:rPr dirty="0"/>
              <a:t>: 20%</a:t>
            </a:r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합리적</a:t>
            </a:r>
            <a:r>
              <a:rPr dirty="0"/>
              <a:t> </a:t>
            </a:r>
            <a:r>
              <a:rPr dirty="0" err="1"/>
              <a:t>분배로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</a:t>
            </a:r>
            <a:r>
              <a:rPr dirty="0" err="1"/>
              <a:t>부지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 </a:t>
            </a:r>
            <a:r>
              <a:rPr dirty="0" err="1"/>
              <a:t>용이</a:t>
            </a:r>
            <a:endParaRPr dirty="0"/>
          </a:p>
          <a:p>
            <a:pPr algn="l">
              <a:lnSpc>
                <a:spcPct val="200000"/>
              </a:lnSpc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• CMS </a:t>
            </a:r>
            <a:r>
              <a:rPr dirty="0" err="1"/>
              <a:t>솔루션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및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창출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8412480" y="5394959"/>
            <a:ext cx="3017520" cy="45720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본사 40% 수취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199" y="365760"/>
            <a:ext cx="2195209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03. REVENUE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1787" y="341765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자판기</a:t>
            </a:r>
            <a:r>
              <a:rPr dirty="0"/>
              <a:t> 1대당 일 </a:t>
            </a:r>
            <a:r>
              <a:rPr dirty="0" err="1"/>
              <a:t>판매량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회수기간</a:t>
            </a:r>
            <a:r>
              <a:rPr dirty="0"/>
              <a:t> 및 </a:t>
            </a:r>
            <a:r>
              <a:rPr dirty="0" err="1"/>
              <a:t>결합</a:t>
            </a:r>
            <a:r>
              <a:rPr dirty="0"/>
              <a:t> </a:t>
            </a:r>
            <a:r>
              <a:rPr dirty="0" err="1"/>
              <a:t>수익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DB1124"/>
                </a:solidFill>
                <a:latin typeface="Malgun Gothic"/>
              </a:defRPr>
            </a:pPr>
            <a:r>
              <a:t>💡 자판기를 500만 원에 구매한 운영자가 라면 판매마진만으로 장비값을 전액 회수하는 기간 및 광고 결합 월 수익 시뮬레이션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하루 판매량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 매출총이익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 매출총이익 (30일)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순수 장비값 회수기간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광고 월 20만 원 결합 수익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20개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47,000원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141.0만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약 106일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161.0만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30개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70,500원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211.5만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약 71일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231.5만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50개 (기본 목표)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117,500원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352.5만 원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약 43일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372.5만 원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80개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188,000원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564.0만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약 27일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584.0만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100개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235,000원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705.0만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약 21일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725.0만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52D"/>
                </a:solidFill>
                <a:latin typeface="Malgun Gothic"/>
              </a:defRPr>
            </a:pPr>
            <a:r>
              <a:t>📌 실제 현장 참고 사항</a:t>
            </a:r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t>• 실제 가맹점 운영 시에는 설치 위치에 따른 장소 수수료, 전기료, 통신비, A/S 유지 보수비 등이 차감되므로 실 회수 기간은 기재된 수치보다 연장될 수 있습니다.</a:t>
            </a:r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t>• 하루 50개 판매 달성 시 광고 결합으로 대당 월 370만 원을 초과하는 합산 총이익이 발생하며 가맹점 및 본사의 견고한 현금 파이프라인이 보장됩니다.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199" y="365760"/>
            <a:ext cx="2149813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03. REVENUE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0996" y="297180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100대 </a:t>
            </a:r>
            <a:r>
              <a:rPr dirty="0" err="1"/>
              <a:t>구축</a:t>
            </a:r>
            <a:r>
              <a:rPr dirty="0"/>
              <a:t> 시 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및 </a:t>
            </a:r>
            <a:r>
              <a:rPr dirty="0" err="1"/>
              <a:t>시너지</a:t>
            </a:r>
            <a:r>
              <a:rPr dirty="0"/>
              <a:t> </a:t>
            </a:r>
            <a:r>
              <a:rPr dirty="0" err="1"/>
              <a:t>규모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5592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📈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유통</a:t>
            </a:r>
            <a:r>
              <a:rPr dirty="0"/>
              <a:t> 및 </a:t>
            </a:r>
            <a:r>
              <a:rPr dirty="0" err="1"/>
              <a:t>원재료</a:t>
            </a:r>
            <a:r>
              <a:rPr dirty="0"/>
              <a:t> </a:t>
            </a:r>
            <a:r>
              <a:rPr dirty="0" err="1"/>
              <a:t>독점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매출</a:t>
            </a:r>
            <a:endParaRPr dirty="0"/>
          </a:p>
          <a:p>
            <a:br>
              <a:rPr dirty="0"/>
            </a:br>
            <a:r>
              <a:rPr dirty="0"/>
              <a:t>1.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판매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총이익</a:t>
            </a:r>
            <a:r>
              <a:rPr dirty="0"/>
              <a:t>: 1억 5천만 원</a:t>
            </a:r>
            <a:br>
              <a:rPr lang="en-US" dirty="0"/>
            </a:br>
            <a:endParaRPr dirty="0"/>
          </a:p>
          <a:p>
            <a:pPr algn="l"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- 100대 </a:t>
            </a:r>
            <a:r>
              <a:rPr dirty="0" err="1"/>
              <a:t>판매</a:t>
            </a:r>
            <a:r>
              <a:rPr dirty="0"/>
              <a:t> 시 </a:t>
            </a:r>
            <a:r>
              <a:rPr dirty="0" err="1"/>
              <a:t>매출</a:t>
            </a:r>
            <a:r>
              <a:rPr dirty="0"/>
              <a:t> 5억 원, </a:t>
            </a:r>
            <a:r>
              <a:rPr dirty="0" err="1"/>
              <a:t>매입원가</a:t>
            </a:r>
            <a:r>
              <a:rPr dirty="0"/>
              <a:t> 3.5억 원</a:t>
            </a:r>
            <a:endParaRPr lang="en-US" dirty="0"/>
          </a:p>
          <a:p>
            <a:pPr algn="l">
              <a:defRPr sz="1200" b="0">
                <a:solidFill>
                  <a:srgbClr val="3C3C3C"/>
                </a:solidFill>
                <a:latin typeface="Malgun Gothic"/>
              </a:defRPr>
            </a:pPr>
            <a:br>
              <a:rPr lang="en-US" dirty="0"/>
            </a:br>
            <a:r>
              <a:rPr dirty="0"/>
              <a:t>   -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대규모</a:t>
            </a:r>
            <a:r>
              <a:rPr dirty="0"/>
              <a:t> </a:t>
            </a:r>
            <a:r>
              <a:rPr dirty="0" err="1"/>
              <a:t>현금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확보로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/</a:t>
            </a:r>
            <a:r>
              <a:rPr dirty="0" err="1"/>
              <a:t>솔루션</a:t>
            </a:r>
            <a:r>
              <a:rPr dirty="0"/>
              <a:t> R&amp;D </a:t>
            </a:r>
            <a:r>
              <a:rPr dirty="0" err="1"/>
              <a:t>자금</a:t>
            </a:r>
            <a:r>
              <a:rPr dirty="0"/>
              <a:t> </a:t>
            </a:r>
            <a:r>
              <a:rPr dirty="0" err="1"/>
              <a:t>충당</a:t>
            </a:r>
            <a:endParaRPr dirty="0"/>
          </a:p>
          <a:p>
            <a:br>
              <a:rPr dirty="0"/>
            </a:br>
            <a:r>
              <a:rPr dirty="0"/>
              <a:t>2.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식재료</a:t>
            </a:r>
            <a:r>
              <a:rPr dirty="0"/>
              <a:t> 월 </a:t>
            </a:r>
            <a:r>
              <a:rPr dirty="0" err="1"/>
              <a:t>매출총이익</a:t>
            </a:r>
            <a:r>
              <a:rPr dirty="0"/>
              <a:t>: 3.52억 원 (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)</a:t>
            </a:r>
          </a:p>
          <a:p>
            <a:pPr marL="180975" algn="l">
              <a:defRPr sz="12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br>
              <a:rPr lang="en-US" dirty="0"/>
            </a:br>
            <a:r>
              <a:rPr dirty="0"/>
              <a:t>- </a:t>
            </a:r>
            <a:r>
              <a:rPr dirty="0" err="1"/>
              <a:t>하루</a:t>
            </a:r>
            <a:r>
              <a:rPr dirty="0"/>
              <a:t> 50개 </a:t>
            </a:r>
            <a:r>
              <a:rPr dirty="0" err="1"/>
              <a:t>판매</a:t>
            </a:r>
            <a:r>
              <a:rPr dirty="0"/>
              <a:t> 시 100대 총 월 150,000개 </a:t>
            </a:r>
            <a:r>
              <a:rPr dirty="0" err="1"/>
              <a:t>유통</a:t>
            </a:r>
            <a:endParaRPr lang="en-US" dirty="0"/>
          </a:p>
          <a:p>
            <a:pPr marL="180975" algn="l">
              <a:defRPr sz="1200" b="0">
                <a:solidFill>
                  <a:srgbClr val="3C3C3C"/>
                </a:solidFill>
                <a:latin typeface="Malgun Gothic"/>
              </a:defRPr>
            </a:pPr>
            <a:br>
              <a:rPr dirty="0"/>
            </a:br>
            <a:r>
              <a:rPr dirty="0"/>
              <a:t>- 월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6억 원, </a:t>
            </a:r>
            <a:r>
              <a:rPr dirty="0" err="1"/>
              <a:t>매출총이익</a:t>
            </a:r>
            <a:r>
              <a:rPr dirty="0"/>
              <a:t> 3.52억 원 </a:t>
            </a:r>
            <a:r>
              <a:rPr dirty="0" err="1"/>
              <a:t>규모</a:t>
            </a:r>
            <a:endParaRPr lang="en-US" dirty="0"/>
          </a:p>
          <a:p>
            <a:pPr marL="180975" algn="l">
              <a:defRPr sz="1200" b="0">
                <a:solidFill>
                  <a:srgbClr val="3C3C3C"/>
                </a:solidFill>
                <a:latin typeface="Malgun Gothic"/>
              </a:defRPr>
            </a:pPr>
            <a:br>
              <a:rPr dirty="0"/>
            </a:br>
            <a:r>
              <a:rPr dirty="0"/>
              <a:t>- </a:t>
            </a:r>
            <a:r>
              <a:rPr dirty="0" err="1"/>
              <a:t>본사는</a:t>
            </a:r>
            <a:r>
              <a:rPr dirty="0"/>
              <a:t> </a:t>
            </a:r>
            <a:r>
              <a:rPr dirty="0" err="1"/>
              <a:t>라면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스프</a:t>
            </a:r>
            <a:r>
              <a:rPr dirty="0"/>
              <a:t> 및 </a:t>
            </a:r>
            <a:r>
              <a:rPr dirty="0" err="1"/>
              <a:t>기기용</a:t>
            </a:r>
            <a:r>
              <a:rPr dirty="0"/>
              <a:t> </a:t>
            </a:r>
            <a:r>
              <a:rPr dirty="0" err="1"/>
              <a:t>포장</a:t>
            </a:r>
            <a:r>
              <a:rPr dirty="0"/>
              <a:t> </a:t>
            </a:r>
            <a:r>
              <a:rPr dirty="0" err="1"/>
              <a:t>식자재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마진</a:t>
            </a:r>
            <a:r>
              <a:rPr dirty="0"/>
              <a:t> </a:t>
            </a:r>
            <a:r>
              <a:rPr dirty="0" err="1"/>
              <a:t>수취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D252D"/>
                </a:solidFill>
                <a:latin typeface="Malgun Gothic"/>
              </a:defRPr>
            </a:pPr>
            <a:r>
              <a:t>📺 100대 기준 광고 매출 및 본사 몫 (40%)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19456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대당 월 광고료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100대 총 매출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본사 수수료 (40%)</a:t>
                      </a:r>
                    </a:p>
                  </a:txBody>
                  <a:tcPr anchor="ctr">
                    <a:solidFill>
                      <a:srgbClr val="1D25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1,000만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월 400만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20만 원 (목표)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2,000만 원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B1124"/>
                          </a:solidFill>
                          <a:latin typeface="Malgun Gothic"/>
                        </a:defRPr>
                      </a:pPr>
                      <a:r>
                        <a:t>월 800만 원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30만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3,000만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월 1,200만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50만 원 (핫스팟)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5,000만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  <a:latin typeface="Malgun Gothic"/>
                        </a:defRPr>
                      </a:pPr>
                      <a:r>
                        <a:t>월 2,000만 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199" y="365760"/>
            <a:ext cx="2227635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04.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3680" y="341765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및 </a:t>
            </a:r>
            <a:r>
              <a:rPr dirty="0" err="1"/>
              <a:t>광고주</a:t>
            </a:r>
            <a:r>
              <a:rPr dirty="0"/>
              <a:t> 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📍 5대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밀착형</a:t>
            </a:r>
            <a:r>
              <a:rPr dirty="0"/>
              <a:t> </a:t>
            </a:r>
            <a:r>
              <a:rPr dirty="0" err="1"/>
              <a:t>입점</a:t>
            </a:r>
            <a:r>
              <a:rPr dirty="0"/>
              <a:t> </a:t>
            </a:r>
            <a:r>
              <a:rPr dirty="0" err="1"/>
              <a:t>공간</a:t>
            </a:r>
            <a:endParaRPr dirty="0"/>
          </a:p>
          <a:p>
            <a:br>
              <a:rPr dirty="0"/>
            </a:br>
            <a:r>
              <a:rPr dirty="0"/>
              <a:t>✔ </a:t>
            </a:r>
            <a:r>
              <a:rPr dirty="0" err="1"/>
              <a:t>대학교</a:t>
            </a:r>
            <a:r>
              <a:rPr dirty="0"/>
              <a:t> </a:t>
            </a:r>
            <a:r>
              <a:rPr dirty="0" err="1"/>
              <a:t>기숙사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야간</a:t>
            </a:r>
            <a:r>
              <a:rPr dirty="0"/>
              <a:t>/</a:t>
            </a:r>
            <a:r>
              <a:rPr dirty="0" err="1"/>
              <a:t>새벽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야식</a:t>
            </a:r>
            <a:r>
              <a:rPr dirty="0"/>
              <a:t> </a:t>
            </a:r>
            <a:r>
              <a:rPr dirty="0" err="1"/>
              <a:t>수요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 및 </a:t>
            </a:r>
            <a:r>
              <a:rPr dirty="0" err="1"/>
              <a:t>대학생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캠퍼스</a:t>
            </a:r>
            <a:r>
              <a:rPr dirty="0"/>
              <a:t>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최적지</a:t>
            </a:r>
            <a:endParaRPr dirty="0"/>
          </a:p>
          <a:p>
            <a:br>
              <a:rPr dirty="0"/>
            </a:br>
            <a:r>
              <a:rPr dirty="0"/>
              <a:t>✔ </a:t>
            </a:r>
            <a:r>
              <a:rPr dirty="0" err="1"/>
              <a:t>PC방</a:t>
            </a:r>
            <a:r>
              <a:rPr dirty="0"/>
              <a:t> / </a:t>
            </a:r>
            <a:r>
              <a:rPr dirty="0" err="1"/>
              <a:t>멀티방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및 </a:t>
            </a:r>
            <a:r>
              <a:rPr dirty="0" err="1"/>
              <a:t>이용</a:t>
            </a:r>
            <a:r>
              <a:rPr dirty="0"/>
              <a:t> 중 </a:t>
            </a:r>
            <a:r>
              <a:rPr dirty="0" err="1"/>
              <a:t>간편</a:t>
            </a:r>
            <a:r>
              <a:rPr dirty="0"/>
              <a:t> </a:t>
            </a:r>
            <a:r>
              <a:rPr dirty="0" err="1"/>
              <a:t>조리식</a:t>
            </a:r>
            <a:r>
              <a:rPr dirty="0"/>
              <a:t> </a:t>
            </a:r>
            <a:r>
              <a:rPr dirty="0" err="1"/>
              <a:t>수요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, </a:t>
            </a:r>
            <a:r>
              <a:rPr dirty="0" err="1"/>
              <a:t>게임</a:t>
            </a:r>
            <a:r>
              <a:rPr dirty="0"/>
              <a:t>/IT </a:t>
            </a:r>
            <a:r>
              <a:rPr dirty="0" err="1"/>
              <a:t>브랜드</a:t>
            </a:r>
            <a:r>
              <a:rPr dirty="0"/>
              <a:t> </a:t>
            </a:r>
            <a:r>
              <a:rPr dirty="0" err="1"/>
              <a:t>연계</a:t>
            </a:r>
            <a:r>
              <a:rPr dirty="0"/>
              <a:t> </a:t>
            </a:r>
            <a:r>
              <a:rPr dirty="0" err="1"/>
              <a:t>광고</a:t>
            </a:r>
            <a:endParaRPr dirty="0"/>
          </a:p>
          <a:p>
            <a:br>
              <a:rPr dirty="0"/>
            </a:br>
            <a:r>
              <a:rPr dirty="0"/>
              <a:t>✔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공장</a:t>
            </a:r>
            <a:r>
              <a:rPr dirty="0"/>
              <a:t> / </a:t>
            </a:r>
            <a:r>
              <a:rPr dirty="0" err="1"/>
              <a:t>휴게공간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근무하는</a:t>
            </a:r>
            <a:r>
              <a:rPr dirty="0"/>
              <a:t> </a:t>
            </a:r>
            <a:r>
              <a:rPr dirty="0" err="1"/>
              <a:t>블루칼라</a:t>
            </a:r>
            <a:r>
              <a:rPr dirty="0"/>
              <a:t> </a:t>
            </a:r>
            <a:r>
              <a:rPr dirty="0" err="1"/>
              <a:t>직원의</a:t>
            </a:r>
            <a:r>
              <a:rPr dirty="0"/>
              <a:t> </a:t>
            </a:r>
            <a:r>
              <a:rPr dirty="0" err="1"/>
              <a:t>야식</a:t>
            </a:r>
            <a:r>
              <a:rPr dirty="0"/>
              <a:t> </a:t>
            </a:r>
            <a:r>
              <a:rPr dirty="0" err="1"/>
              <a:t>보장</a:t>
            </a:r>
            <a:r>
              <a:rPr dirty="0"/>
              <a:t> 및 </a:t>
            </a:r>
            <a:r>
              <a:rPr dirty="0" err="1"/>
              <a:t>안정적</a:t>
            </a:r>
            <a:r>
              <a:rPr dirty="0"/>
              <a:t> </a:t>
            </a:r>
            <a:r>
              <a:rPr dirty="0" err="1"/>
              <a:t>회전율</a:t>
            </a:r>
            <a:r>
              <a:rPr dirty="0"/>
              <a:t> </a:t>
            </a:r>
            <a:r>
              <a:rPr dirty="0" err="1"/>
              <a:t>보장</a:t>
            </a:r>
            <a:endParaRPr dirty="0"/>
          </a:p>
          <a:p>
            <a:br>
              <a:rPr dirty="0"/>
            </a:br>
            <a:r>
              <a:rPr dirty="0"/>
              <a:t>✔ </a:t>
            </a:r>
            <a:r>
              <a:rPr dirty="0" err="1"/>
              <a:t>고시원</a:t>
            </a:r>
            <a:r>
              <a:rPr dirty="0"/>
              <a:t> / </a:t>
            </a:r>
            <a:r>
              <a:rPr dirty="0" err="1"/>
              <a:t>스터디카페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장시간</a:t>
            </a:r>
            <a:r>
              <a:rPr dirty="0"/>
              <a:t> </a:t>
            </a:r>
            <a:r>
              <a:rPr dirty="0" err="1"/>
              <a:t>체류하는</a:t>
            </a:r>
            <a:r>
              <a:rPr dirty="0"/>
              <a:t> </a:t>
            </a:r>
            <a:r>
              <a:rPr dirty="0" err="1"/>
              <a:t>학생</a:t>
            </a:r>
            <a:r>
              <a:rPr dirty="0"/>
              <a:t>, </a:t>
            </a:r>
            <a:r>
              <a:rPr dirty="0" err="1"/>
              <a:t>수험생의</a:t>
            </a:r>
            <a:r>
              <a:rPr dirty="0"/>
              <a:t> </a:t>
            </a:r>
            <a:r>
              <a:rPr dirty="0" err="1"/>
              <a:t>간편</a:t>
            </a:r>
            <a:r>
              <a:rPr dirty="0"/>
              <a:t> </a:t>
            </a:r>
            <a:r>
              <a:rPr dirty="0" err="1"/>
              <a:t>야식</a:t>
            </a:r>
            <a:r>
              <a:rPr dirty="0"/>
              <a:t> </a:t>
            </a:r>
            <a:r>
              <a:rPr dirty="0" err="1"/>
              <a:t>수요</a:t>
            </a:r>
            <a:r>
              <a:rPr dirty="0"/>
              <a:t> 및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광고</a:t>
            </a:r>
            <a:endParaRPr dirty="0"/>
          </a:p>
          <a:p>
            <a:br>
              <a:rPr dirty="0"/>
            </a:br>
            <a:r>
              <a:rPr dirty="0"/>
              <a:t>✔ </a:t>
            </a:r>
            <a:r>
              <a:rPr dirty="0" err="1"/>
              <a:t>병원</a:t>
            </a:r>
            <a:r>
              <a:rPr dirty="0"/>
              <a:t> / </a:t>
            </a:r>
            <a:r>
              <a:rPr dirty="0" err="1"/>
              <a:t>요양시설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교대</a:t>
            </a:r>
            <a:r>
              <a:rPr dirty="0"/>
              <a:t> </a:t>
            </a:r>
            <a:r>
              <a:rPr dirty="0" err="1"/>
              <a:t>근무</a:t>
            </a:r>
            <a:r>
              <a:rPr dirty="0"/>
              <a:t> </a:t>
            </a:r>
            <a:r>
              <a:rPr dirty="0" err="1"/>
              <a:t>간호사</a:t>
            </a:r>
            <a:r>
              <a:rPr dirty="0"/>
              <a:t> 및 </a:t>
            </a:r>
            <a:r>
              <a:rPr dirty="0" err="1"/>
              <a:t>상주</a:t>
            </a:r>
            <a:r>
              <a:rPr dirty="0"/>
              <a:t> </a:t>
            </a:r>
            <a:r>
              <a:rPr dirty="0" err="1"/>
              <a:t>직원의</a:t>
            </a:r>
            <a:r>
              <a:rPr dirty="0"/>
              <a:t> </a:t>
            </a:r>
            <a:r>
              <a:rPr dirty="0" err="1"/>
              <a:t>심야</a:t>
            </a:r>
            <a:r>
              <a:rPr dirty="0"/>
              <a:t> </a:t>
            </a:r>
            <a:r>
              <a:rPr dirty="0" err="1"/>
              <a:t>식사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 및 </a:t>
            </a:r>
            <a:r>
              <a:rPr dirty="0" err="1"/>
              <a:t>건강식</a:t>
            </a:r>
            <a:r>
              <a:rPr dirty="0"/>
              <a:t> </a:t>
            </a:r>
            <a:r>
              <a:rPr dirty="0" err="1"/>
              <a:t>위주</a:t>
            </a:r>
            <a:r>
              <a:rPr dirty="0"/>
              <a:t> </a:t>
            </a:r>
            <a:r>
              <a:rPr dirty="0" err="1"/>
              <a:t>타겟팅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t>🎯 로컬 소상공인 &amp; 프랜차이즈 브랜드 결합</a:t>
            </a:r>
          </a:p>
          <a:p>
            <a:br/>
            <a:r>
              <a:t>📢 지역 소상공인 밀착형 광고</a:t>
            </a:r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t>   자판기 주변 반경 500m 이내의 요식업, 뷰티, 피트니스 등 소상공인이 모바일을 통해 손쉽게 쿠폰 스캔 형태로 홍보할 수 있는 '로컬 베이직' 상품 출시</a:t>
            </a:r>
          </a:p>
          <a:p>
            <a:br/>
            <a:r>
              <a:t>📢 프랜차이즈 및 브랜드 쿠폰 연동</a:t>
            </a:r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t>   광고 시청 완료 후 화면상의 QR코드를 스캔하면 전국 프랜차이즈 매장에서 바로 사용 가능한 즉시 할인 쿠폰을 지급하는 프로모션형 브랜드 패키지 광고 유치</a:t>
            </a:r>
          </a:p>
          <a:p>
            <a:br/>
            <a:r>
              <a:t>📢 공공 및 지역 안전 캠페인</a:t>
            </a:r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t>   정부, 구청 등 공공기관의 청년/지역 일자리 정책 및 소방/보건안전 캠페인을 자판기 조리 대기 시간 동안 의무 송출하여 사회적 신뢰 매체로 포지셔닝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1645920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04.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t>10대 파일럿에서 전국 미디어 플랫폼으로의 5단계 성장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828800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제품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및 </a:t>
            </a:r>
            <a:r>
              <a:rPr dirty="0" err="1"/>
              <a:t>규격화</a:t>
            </a:r>
            <a:endParaRPr dirty="0"/>
          </a:p>
          <a:p>
            <a:pPr>
              <a:lnSpc>
                <a:spcPct val="200000"/>
              </a:lnSpc>
            </a:pPr>
            <a:br>
              <a:rPr dirty="0"/>
            </a:br>
            <a:r>
              <a:rPr sz="1200" dirty="0"/>
              <a:t>• </a:t>
            </a:r>
            <a:r>
              <a:rPr sz="1200" dirty="0" err="1"/>
              <a:t>KC안전</a:t>
            </a:r>
            <a:r>
              <a:rPr sz="1200" dirty="0"/>
              <a:t>/</a:t>
            </a:r>
            <a:r>
              <a:rPr sz="1200" dirty="0" err="1"/>
              <a:t>전파</a:t>
            </a:r>
            <a:r>
              <a:rPr sz="1200" dirty="0"/>
              <a:t> </a:t>
            </a:r>
            <a:r>
              <a:rPr sz="1200" dirty="0" err="1"/>
              <a:t>인증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식품위생</a:t>
            </a:r>
            <a:r>
              <a:rPr sz="1200" dirty="0"/>
              <a:t> </a:t>
            </a:r>
            <a:r>
              <a:rPr sz="1200" dirty="0" err="1"/>
              <a:t>자판기</a:t>
            </a:r>
            <a:r>
              <a:rPr sz="1200" dirty="0"/>
              <a:t> </a:t>
            </a:r>
            <a:r>
              <a:rPr sz="1200" dirty="0" err="1"/>
              <a:t>신고</a:t>
            </a:r>
            <a:br>
              <a:rPr sz="1200" dirty="0"/>
            </a:br>
            <a:r>
              <a:rPr sz="1200" dirty="0"/>
              <a:t>• CMS </a:t>
            </a:r>
            <a:r>
              <a:rPr sz="1200" dirty="0" err="1"/>
              <a:t>기본</a:t>
            </a:r>
            <a:r>
              <a:rPr sz="1200" dirty="0"/>
              <a:t> R&amp;D </a:t>
            </a:r>
            <a:r>
              <a:rPr sz="1200" dirty="0" err="1"/>
              <a:t>완료</a:t>
            </a:r>
            <a:endParaRPr sz="1200" dirty="0"/>
          </a:p>
        </p:txBody>
      </p:sp>
      <p:sp>
        <p:nvSpPr>
          <p:cNvPr id="9" name="Right Arrow 8"/>
          <p:cNvSpPr/>
          <p:nvPr/>
        </p:nvSpPr>
        <p:spPr>
          <a:xfrm>
            <a:off x="2487168" y="3291840"/>
            <a:ext cx="146304" cy="274320"/>
          </a:xfrm>
          <a:prstGeom prst="rightArrow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64592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2011680" cy="548640"/>
          </a:xfrm>
          <a:prstGeom prst="rect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1828800" cy="227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10대 </a:t>
            </a:r>
            <a:r>
              <a:rPr dirty="0" err="1"/>
              <a:t>파일럿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lnSpc>
                <a:spcPct val="200000"/>
              </a:lnSpc>
            </a:pPr>
            <a:br>
              <a:rPr dirty="0"/>
            </a:br>
            <a:r>
              <a:rPr sz="1200" dirty="0"/>
              <a:t>• </a:t>
            </a:r>
            <a:r>
              <a:rPr sz="1200" dirty="0" err="1"/>
              <a:t>기숙사</a:t>
            </a:r>
            <a:r>
              <a:rPr sz="1200" dirty="0"/>
              <a:t>, </a:t>
            </a:r>
            <a:r>
              <a:rPr sz="1200" dirty="0" err="1"/>
              <a:t>PC방</a:t>
            </a:r>
            <a:r>
              <a:rPr sz="1200" dirty="0"/>
              <a:t> 등 </a:t>
            </a:r>
            <a:r>
              <a:rPr sz="1200" dirty="0" err="1"/>
              <a:t>설치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판매수량</a:t>
            </a:r>
            <a:r>
              <a:rPr sz="1200" dirty="0"/>
              <a:t>/</a:t>
            </a:r>
            <a:r>
              <a:rPr sz="1200" dirty="0" err="1"/>
              <a:t>노출</a:t>
            </a:r>
            <a:r>
              <a:rPr sz="1200" dirty="0"/>
              <a:t> </a:t>
            </a:r>
            <a:r>
              <a:rPr sz="1200" dirty="0" err="1"/>
              <a:t>데이터</a:t>
            </a:r>
            <a:r>
              <a:rPr sz="1200" dirty="0"/>
              <a:t> </a:t>
            </a:r>
            <a:r>
              <a:rPr sz="1200" dirty="0" err="1"/>
              <a:t>확보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이용자</a:t>
            </a:r>
            <a:r>
              <a:rPr sz="1200" dirty="0"/>
              <a:t> QR </a:t>
            </a:r>
            <a:r>
              <a:rPr sz="1200" dirty="0" err="1"/>
              <a:t>스캔율</a:t>
            </a:r>
            <a:r>
              <a:rPr sz="1200" dirty="0"/>
              <a:t> </a:t>
            </a:r>
            <a:r>
              <a:rPr sz="1200" dirty="0" err="1"/>
              <a:t>분석</a:t>
            </a:r>
            <a:endParaRPr sz="1200" dirty="0"/>
          </a:p>
        </p:txBody>
      </p:sp>
      <p:sp>
        <p:nvSpPr>
          <p:cNvPr id="13" name="Right Arrow 12"/>
          <p:cNvSpPr/>
          <p:nvPr/>
        </p:nvSpPr>
        <p:spPr>
          <a:xfrm>
            <a:off x="4681728" y="3291840"/>
            <a:ext cx="146304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0" y="164592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645920"/>
            <a:ext cx="2011680" cy="5486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1938528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출시</a:t>
            </a:r>
            <a:endParaRPr dirty="0"/>
          </a:p>
          <a:p>
            <a:pPr>
              <a:lnSpc>
                <a:spcPct val="200000"/>
              </a:lnSpc>
            </a:pPr>
            <a:br>
              <a:rPr dirty="0"/>
            </a:br>
            <a:r>
              <a:rPr sz="1200" dirty="0"/>
              <a:t>• </a:t>
            </a:r>
            <a:r>
              <a:rPr sz="1200" dirty="0" err="1"/>
              <a:t>광고</a:t>
            </a:r>
            <a:r>
              <a:rPr sz="1200" dirty="0"/>
              <a:t> CMS </a:t>
            </a:r>
            <a:r>
              <a:rPr sz="1200" dirty="0" err="1"/>
              <a:t>고도화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소상공인</a:t>
            </a:r>
            <a:r>
              <a:rPr sz="1200" dirty="0"/>
              <a:t> </a:t>
            </a:r>
            <a:r>
              <a:rPr sz="1200" dirty="0" err="1"/>
              <a:t>연동</a:t>
            </a:r>
            <a:r>
              <a:rPr sz="1200" dirty="0"/>
              <a:t> </a:t>
            </a:r>
            <a:r>
              <a:rPr sz="1200" dirty="0" err="1"/>
              <a:t>상품</a:t>
            </a:r>
            <a:r>
              <a:rPr sz="1200" dirty="0"/>
              <a:t> </a:t>
            </a:r>
            <a:r>
              <a:rPr sz="1200" dirty="0" err="1"/>
              <a:t>개발</a:t>
            </a:r>
            <a:br>
              <a:rPr sz="1200" dirty="0"/>
            </a:br>
            <a:r>
              <a:rPr sz="1200" dirty="0"/>
              <a:t>• 30대 </a:t>
            </a:r>
            <a:r>
              <a:rPr sz="1200" dirty="0" err="1"/>
              <a:t>규모로</a:t>
            </a:r>
            <a:r>
              <a:rPr sz="1200" dirty="0"/>
              <a:t> </a:t>
            </a:r>
            <a:r>
              <a:rPr sz="1200" dirty="0" err="1"/>
              <a:t>보급</a:t>
            </a:r>
            <a:r>
              <a:rPr sz="1200" dirty="0"/>
              <a:t> </a:t>
            </a:r>
            <a:r>
              <a:rPr sz="1200" dirty="0" err="1"/>
              <a:t>확장</a:t>
            </a:r>
            <a:endParaRPr sz="1200" dirty="0"/>
          </a:p>
        </p:txBody>
      </p:sp>
      <p:sp>
        <p:nvSpPr>
          <p:cNvPr id="17" name="Right Arrow 16"/>
          <p:cNvSpPr/>
          <p:nvPr/>
        </p:nvSpPr>
        <p:spPr>
          <a:xfrm>
            <a:off x="6876288" y="3291840"/>
            <a:ext cx="146304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0" y="164592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40880" y="1645920"/>
            <a:ext cx="2011680" cy="5486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4단계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86000"/>
            <a:ext cx="1938528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100대 </a:t>
            </a: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거점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  <a:p>
            <a:pPr>
              <a:lnSpc>
                <a:spcPct val="200000"/>
              </a:lnSpc>
            </a:pPr>
            <a:br>
              <a:rPr dirty="0"/>
            </a:br>
            <a:r>
              <a:rPr sz="1200" dirty="0"/>
              <a:t>• </a:t>
            </a:r>
            <a:r>
              <a:rPr sz="1200" dirty="0" err="1"/>
              <a:t>대리점</a:t>
            </a:r>
            <a:r>
              <a:rPr sz="1200" dirty="0"/>
              <a:t>/</a:t>
            </a:r>
            <a:r>
              <a:rPr sz="1200" dirty="0" err="1"/>
              <a:t>위탁운영</a:t>
            </a:r>
            <a:r>
              <a:rPr sz="1200" dirty="0"/>
              <a:t> </a:t>
            </a:r>
            <a:r>
              <a:rPr sz="1200" dirty="0" err="1"/>
              <a:t>체계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플랫폼</a:t>
            </a:r>
            <a:r>
              <a:rPr sz="1200" dirty="0"/>
              <a:t> </a:t>
            </a:r>
            <a:r>
              <a:rPr sz="1200" dirty="0" err="1"/>
              <a:t>수수료</a:t>
            </a:r>
            <a:r>
              <a:rPr sz="1200" dirty="0"/>
              <a:t> </a:t>
            </a:r>
            <a:r>
              <a:rPr sz="1200" dirty="0" err="1"/>
              <a:t>계약</a:t>
            </a:r>
            <a:r>
              <a:rPr sz="1200" dirty="0"/>
              <a:t> </a:t>
            </a:r>
            <a:r>
              <a:rPr sz="1200" dirty="0" err="1"/>
              <a:t>체결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지역</a:t>
            </a:r>
            <a:r>
              <a:rPr sz="1200" dirty="0"/>
              <a:t> </a:t>
            </a:r>
            <a:r>
              <a:rPr sz="1200" dirty="0" err="1"/>
              <a:t>밀착형</a:t>
            </a:r>
            <a:r>
              <a:rPr sz="1200" dirty="0"/>
              <a:t> </a:t>
            </a:r>
            <a:r>
              <a:rPr sz="1200" dirty="0" err="1"/>
              <a:t>영업망</a:t>
            </a:r>
            <a:r>
              <a:rPr sz="1200" dirty="0"/>
              <a:t> </a:t>
            </a:r>
            <a:r>
              <a:rPr sz="1200" dirty="0" err="1"/>
              <a:t>완성</a:t>
            </a:r>
            <a:endParaRPr sz="1200" dirty="0"/>
          </a:p>
        </p:txBody>
      </p:sp>
      <p:sp>
        <p:nvSpPr>
          <p:cNvPr id="21" name="Right Arrow 20"/>
          <p:cNvSpPr/>
          <p:nvPr/>
        </p:nvSpPr>
        <p:spPr>
          <a:xfrm>
            <a:off x="9070848" y="3291840"/>
            <a:ext cx="146304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1645920"/>
            <a:ext cx="2011680" cy="54864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5단계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011680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미디어</a:t>
            </a:r>
            <a:r>
              <a:rPr dirty="0"/>
              <a:t> </a:t>
            </a:r>
            <a:r>
              <a:rPr dirty="0" err="1"/>
              <a:t>플랫폼</a:t>
            </a:r>
            <a:endParaRPr dirty="0"/>
          </a:p>
          <a:p>
            <a:pPr>
              <a:lnSpc>
                <a:spcPct val="200000"/>
              </a:lnSpc>
            </a:pPr>
            <a:br>
              <a:rPr dirty="0"/>
            </a:br>
            <a:r>
              <a:rPr sz="1200" dirty="0"/>
              <a:t>• 500대 </a:t>
            </a:r>
            <a:r>
              <a:rPr sz="1200" dirty="0" err="1"/>
              <a:t>이상</a:t>
            </a:r>
            <a:r>
              <a:rPr sz="1200" dirty="0"/>
              <a:t> </a:t>
            </a:r>
            <a:r>
              <a:rPr sz="1200" dirty="0" err="1"/>
              <a:t>전국망</a:t>
            </a:r>
            <a:r>
              <a:rPr sz="1200" dirty="0"/>
              <a:t> </a:t>
            </a:r>
            <a:r>
              <a:rPr sz="1200" dirty="0" err="1"/>
              <a:t>확보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프랜차이즈</a:t>
            </a:r>
            <a:r>
              <a:rPr sz="1200" dirty="0"/>
              <a:t> </a:t>
            </a:r>
            <a:r>
              <a:rPr sz="1200" dirty="0" err="1"/>
              <a:t>대기업</a:t>
            </a:r>
            <a:r>
              <a:rPr sz="1200" dirty="0"/>
              <a:t> </a:t>
            </a:r>
            <a:r>
              <a:rPr sz="1200" dirty="0" err="1"/>
              <a:t>광고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빅데이터</a:t>
            </a:r>
            <a:r>
              <a:rPr sz="1200" dirty="0"/>
              <a:t> DOOH </a:t>
            </a:r>
            <a:r>
              <a:rPr sz="1200" dirty="0" err="1"/>
              <a:t>플랫폼화</a:t>
            </a:r>
            <a:endParaRPr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457200" y="365760"/>
            <a:ext cx="2123872" cy="320040"/>
          </a:xfrm>
          <a:prstGeom prst="parallelogram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04. INVESTMENT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8025" y="341765"/>
            <a:ext cx="94183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>
                <a:solidFill>
                  <a:srgbClr val="1D252D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메리트</a:t>
            </a:r>
            <a:r>
              <a:rPr dirty="0"/>
              <a:t> 및 </a:t>
            </a:r>
            <a:r>
              <a:rPr dirty="0" err="1"/>
              <a:t>조달</a:t>
            </a:r>
            <a:r>
              <a:rPr dirty="0"/>
              <a:t> </a:t>
            </a:r>
            <a:r>
              <a:rPr dirty="0" err="1"/>
              <a:t>자금</a:t>
            </a:r>
            <a:r>
              <a:rPr dirty="0"/>
              <a:t> </a:t>
            </a:r>
            <a:r>
              <a:rPr dirty="0" err="1"/>
              <a:t>집행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74552" cy="27432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11734495" y="6400800"/>
            <a:ext cx="457200" cy="4572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20629"/>
            <a:ext cx="539496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1124"/>
                </a:solidFill>
                <a:latin typeface="Malgun Gothic"/>
              </a:defRPr>
            </a:pPr>
            <a:r>
              <a:rPr dirty="0"/>
              <a:t>💎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 (Investment Point)</a:t>
            </a:r>
          </a:p>
          <a:p>
            <a:br>
              <a:rPr dirty="0"/>
            </a:br>
            <a:r>
              <a:rPr dirty="0"/>
              <a:t>💡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현금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자판기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대당</a:t>
            </a:r>
            <a:r>
              <a:rPr dirty="0"/>
              <a:t> 150만 원 </a:t>
            </a:r>
            <a:r>
              <a:rPr dirty="0" err="1"/>
              <a:t>유통</a:t>
            </a:r>
            <a:r>
              <a:rPr dirty="0"/>
              <a:t> </a:t>
            </a:r>
            <a:r>
              <a:rPr dirty="0" err="1"/>
              <a:t>마진</a:t>
            </a:r>
            <a:r>
              <a:rPr dirty="0"/>
              <a:t> </a:t>
            </a:r>
            <a:r>
              <a:rPr dirty="0" err="1"/>
              <a:t>확보로</a:t>
            </a:r>
            <a:r>
              <a:rPr dirty="0"/>
              <a:t> BEP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달성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br>
              <a:rPr lang="ko-KR" altLang="en-US" dirty="0"/>
            </a:br>
            <a:r>
              <a:rPr dirty="0"/>
              <a:t>💡 </a:t>
            </a:r>
            <a:r>
              <a:rPr dirty="0" err="1"/>
              <a:t>누적형</a:t>
            </a:r>
            <a:r>
              <a:rPr dirty="0"/>
              <a:t>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수익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기기가</a:t>
            </a:r>
            <a:r>
              <a:rPr dirty="0"/>
              <a:t> </a:t>
            </a:r>
            <a:r>
              <a:rPr dirty="0" err="1"/>
              <a:t>설치될수록</a:t>
            </a:r>
            <a:r>
              <a:rPr dirty="0"/>
              <a:t> 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유통</a:t>
            </a:r>
            <a:r>
              <a:rPr dirty="0"/>
              <a:t> </a:t>
            </a:r>
            <a:r>
              <a:rPr dirty="0" err="1"/>
              <a:t>마진과</a:t>
            </a:r>
            <a:r>
              <a:rPr dirty="0"/>
              <a:t>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수수료가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스노우볼링</a:t>
            </a:r>
            <a:endParaRPr dirty="0"/>
          </a:p>
          <a:p>
            <a:br>
              <a:rPr dirty="0"/>
            </a:br>
            <a:r>
              <a:rPr dirty="0"/>
              <a:t>💡 </a:t>
            </a:r>
            <a:r>
              <a:rPr dirty="0" err="1"/>
              <a:t>독점적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점유</a:t>
            </a:r>
            <a:r>
              <a:rPr dirty="0"/>
              <a:t> </a:t>
            </a:r>
            <a:r>
              <a:rPr dirty="0" err="1"/>
              <a:t>효과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입점</a:t>
            </a:r>
            <a:r>
              <a:rPr dirty="0"/>
              <a:t> </a:t>
            </a:r>
            <a:r>
              <a:rPr dirty="0" err="1"/>
              <a:t>부지</a:t>
            </a:r>
            <a:r>
              <a:rPr dirty="0"/>
              <a:t> </a:t>
            </a:r>
            <a:r>
              <a:rPr dirty="0" err="1"/>
              <a:t>선점</a:t>
            </a:r>
            <a:r>
              <a:rPr dirty="0"/>
              <a:t> 시 </a:t>
            </a:r>
            <a:r>
              <a:rPr dirty="0" err="1"/>
              <a:t>경쟁사</a:t>
            </a:r>
            <a:r>
              <a:rPr dirty="0"/>
              <a:t> </a:t>
            </a:r>
            <a:r>
              <a:rPr dirty="0" err="1"/>
              <a:t>진입이</a:t>
            </a:r>
            <a:r>
              <a:rPr dirty="0"/>
              <a:t> </a:t>
            </a:r>
            <a:r>
              <a:rPr dirty="0" err="1"/>
              <a:t>어려운</a:t>
            </a:r>
            <a:r>
              <a:rPr dirty="0"/>
              <a:t> '</a:t>
            </a:r>
            <a:r>
              <a:rPr dirty="0" err="1"/>
              <a:t>식품</a:t>
            </a:r>
            <a:r>
              <a:rPr dirty="0"/>
              <a:t> </a:t>
            </a:r>
            <a:r>
              <a:rPr dirty="0" err="1"/>
              <a:t>판매</a:t>
            </a:r>
            <a:r>
              <a:rPr dirty="0"/>
              <a:t> +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미디어</a:t>
            </a:r>
            <a:r>
              <a:rPr dirty="0"/>
              <a:t>' </a:t>
            </a:r>
            <a:r>
              <a:rPr dirty="0" err="1"/>
              <a:t>결합망</a:t>
            </a:r>
            <a:r>
              <a:rPr dirty="0"/>
              <a:t> </a:t>
            </a:r>
            <a:r>
              <a:rPr dirty="0" err="1"/>
              <a:t>완성</a:t>
            </a:r>
            <a:endParaRPr dirty="0"/>
          </a:p>
          <a:p>
            <a:br>
              <a:rPr dirty="0"/>
            </a:br>
            <a:r>
              <a:rPr dirty="0"/>
              <a:t>💡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확장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이용자</a:t>
            </a:r>
            <a:r>
              <a:rPr dirty="0"/>
              <a:t>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(QR </a:t>
            </a:r>
            <a:r>
              <a:rPr dirty="0" err="1"/>
              <a:t>스캔</a:t>
            </a:r>
            <a:r>
              <a:rPr dirty="0"/>
              <a:t>, </a:t>
            </a: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내역</a:t>
            </a:r>
            <a:r>
              <a:rPr dirty="0"/>
              <a:t>) </a:t>
            </a:r>
            <a:r>
              <a:rPr dirty="0" err="1"/>
              <a:t>결합형</a:t>
            </a:r>
            <a:r>
              <a:rPr dirty="0"/>
              <a:t> </a:t>
            </a:r>
            <a:r>
              <a:rPr dirty="0" err="1"/>
              <a:t>마케팅</a:t>
            </a:r>
            <a:r>
              <a:rPr dirty="0"/>
              <a:t> </a:t>
            </a:r>
            <a:r>
              <a:rPr dirty="0" err="1"/>
              <a:t>솔루션으로</a:t>
            </a:r>
            <a:r>
              <a:rPr dirty="0"/>
              <a:t> </a:t>
            </a:r>
            <a:r>
              <a:rPr dirty="0" err="1"/>
              <a:t>고도화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20629"/>
            <a:ext cx="530352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252D"/>
                </a:solidFill>
                <a:latin typeface="Malgun Gothic"/>
              </a:defRPr>
            </a:pPr>
            <a:r>
              <a:rPr dirty="0"/>
              <a:t>💰 </a:t>
            </a:r>
            <a:r>
              <a:rPr dirty="0" err="1"/>
              <a:t>자금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계획</a:t>
            </a:r>
            <a:r>
              <a:rPr dirty="0"/>
              <a:t> (Use of Funds)</a:t>
            </a:r>
          </a:p>
          <a:p>
            <a:br>
              <a:rPr dirty="0"/>
            </a:br>
            <a:r>
              <a:rPr dirty="0"/>
              <a:t>📌 </a:t>
            </a:r>
            <a:r>
              <a:rPr dirty="0" err="1"/>
              <a:t>기기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및 </a:t>
            </a:r>
            <a:r>
              <a:rPr dirty="0" err="1"/>
              <a:t>위생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규격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KC안전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, </a:t>
            </a:r>
            <a:r>
              <a:rPr dirty="0" err="1"/>
              <a:t>전파</a:t>
            </a:r>
            <a:r>
              <a:rPr dirty="0"/>
              <a:t> </a:t>
            </a:r>
            <a:r>
              <a:rPr dirty="0" err="1"/>
              <a:t>적합성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, </a:t>
            </a:r>
            <a:r>
              <a:rPr dirty="0" err="1"/>
              <a:t>식약처</a:t>
            </a:r>
            <a:r>
              <a:rPr dirty="0"/>
              <a:t> </a:t>
            </a:r>
            <a:r>
              <a:rPr dirty="0" err="1"/>
              <a:t>위생자동판매기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통과</a:t>
            </a:r>
            <a:endParaRPr dirty="0"/>
          </a:p>
          <a:p>
            <a:br>
              <a:rPr dirty="0"/>
            </a:br>
            <a:r>
              <a:rPr dirty="0"/>
              <a:t>📌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파일럿</a:t>
            </a:r>
            <a:r>
              <a:rPr dirty="0"/>
              <a:t> </a:t>
            </a:r>
            <a:r>
              <a:rPr dirty="0" err="1"/>
              <a:t>기기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조달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대학가</a:t>
            </a:r>
            <a:r>
              <a:rPr dirty="0"/>
              <a:t> </a:t>
            </a:r>
            <a:r>
              <a:rPr dirty="0" err="1"/>
              <a:t>기숙사</a:t>
            </a:r>
            <a:r>
              <a:rPr dirty="0"/>
              <a:t> 및 </a:t>
            </a:r>
            <a:r>
              <a:rPr dirty="0" err="1"/>
              <a:t>대형</a:t>
            </a:r>
            <a:r>
              <a:rPr dirty="0"/>
              <a:t> </a:t>
            </a:r>
            <a:r>
              <a:rPr dirty="0" err="1"/>
              <a:t>PC방</a:t>
            </a:r>
            <a:r>
              <a:rPr dirty="0"/>
              <a:t> </a:t>
            </a:r>
            <a:r>
              <a:rPr dirty="0" err="1"/>
              <a:t>설치용</a:t>
            </a:r>
            <a:r>
              <a:rPr dirty="0"/>
              <a:t> 10대~30대 </a:t>
            </a:r>
            <a:r>
              <a:rPr dirty="0" err="1"/>
              <a:t>파일럿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수입</a:t>
            </a:r>
            <a:r>
              <a:rPr dirty="0"/>
              <a:t> 및 </a:t>
            </a:r>
            <a:r>
              <a:rPr dirty="0" err="1"/>
              <a:t>조립</a:t>
            </a:r>
            <a:r>
              <a:rPr dirty="0"/>
              <a:t> </a:t>
            </a:r>
            <a:r>
              <a:rPr dirty="0" err="1"/>
              <a:t>비용</a:t>
            </a:r>
            <a:endParaRPr dirty="0"/>
          </a:p>
          <a:p>
            <a:br>
              <a:rPr dirty="0"/>
            </a:br>
            <a:r>
              <a:rPr dirty="0"/>
              <a:t>📌 </a:t>
            </a: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송출</a:t>
            </a:r>
            <a:r>
              <a:rPr dirty="0"/>
              <a:t> CMS </a:t>
            </a:r>
            <a:r>
              <a:rPr dirty="0" err="1"/>
              <a:t>솔루션</a:t>
            </a:r>
            <a:r>
              <a:rPr dirty="0"/>
              <a:t> </a:t>
            </a:r>
            <a:r>
              <a:rPr dirty="0" err="1"/>
              <a:t>고도화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편성</a:t>
            </a:r>
            <a:r>
              <a:rPr dirty="0"/>
              <a:t> </a:t>
            </a:r>
            <a:r>
              <a:rPr dirty="0" err="1"/>
              <a:t>조절</a:t>
            </a:r>
            <a:r>
              <a:rPr dirty="0"/>
              <a:t>, </a:t>
            </a:r>
            <a:r>
              <a:rPr dirty="0" err="1"/>
              <a:t>지역별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, </a:t>
            </a:r>
            <a:r>
              <a:rPr dirty="0" err="1"/>
              <a:t>광고주의</a:t>
            </a:r>
            <a:r>
              <a:rPr dirty="0"/>
              <a:t> </a:t>
            </a:r>
            <a:r>
              <a:rPr dirty="0" err="1"/>
              <a:t>쿠폰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및 </a:t>
            </a:r>
            <a:r>
              <a:rPr dirty="0" err="1"/>
              <a:t>대시보드</a:t>
            </a:r>
            <a:r>
              <a:rPr dirty="0"/>
              <a:t> R&amp;D</a:t>
            </a:r>
          </a:p>
          <a:p>
            <a:br>
              <a:rPr dirty="0"/>
            </a:br>
            <a:r>
              <a:rPr dirty="0"/>
              <a:t>📌 </a:t>
            </a:r>
            <a:r>
              <a:rPr dirty="0" err="1"/>
              <a:t>전국단위</a:t>
            </a:r>
            <a:r>
              <a:rPr dirty="0"/>
              <a:t> </a:t>
            </a:r>
            <a:r>
              <a:rPr dirty="0" err="1"/>
              <a:t>영업망</a:t>
            </a:r>
            <a:r>
              <a:rPr dirty="0"/>
              <a:t> 및 A/</a:t>
            </a:r>
            <a:r>
              <a:rPr dirty="0" err="1"/>
              <a:t>S망</a:t>
            </a:r>
            <a:r>
              <a:rPr dirty="0"/>
              <a:t> </a:t>
            </a:r>
            <a:r>
              <a:rPr dirty="0" err="1"/>
              <a:t>체계화</a:t>
            </a:r>
            <a:endParaRPr dirty="0"/>
          </a:p>
          <a:p>
            <a:pPr algn="l">
              <a:defRPr sz="1100" b="0">
                <a:solidFill>
                  <a:srgbClr val="3C3C3C"/>
                </a:solidFill>
                <a:latin typeface="Malgun Gothic"/>
              </a:defRPr>
            </a:pPr>
            <a:r>
              <a:rPr dirty="0"/>
              <a:t>   </a:t>
            </a:r>
            <a:r>
              <a:rPr dirty="0" err="1"/>
              <a:t>기기</a:t>
            </a:r>
            <a:r>
              <a:rPr dirty="0"/>
              <a:t> </a:t>
            </a:r>
            <a:r>
              <a:rPr dirty="0" err="1"/>
              <a:t>오작동에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전국</a:t>
            </a:r>
            <a:r>
              <a:rPr dirty="0"/>
              <a:t> 24h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 및 </a:t>
            </a:r>
            <a:r>
              <a:rPr dirty="0" err="1"/>
              <a:t>직영</a:t>
            </a:r>
            <a:r>
              <a:rPr dirty="0"/>
              <a:t>/</a:t>
            </a:r>
            <a:r>
              <a:rPr dirty="0" err="1"/>
              <a:t>대리점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세팅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6200000">
            <a:off x="8534095" y="3200400"/>
            <a:ext cx="3657600" cy="3657600"/>
          </a:xfrm>
          <a:prstGeom prst="rtTriangle">
            <a:avLst/>
          </a:prstGeom>
          <a:solidFill>
            <a:srgbClr val="DB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B1124"/>
                </a:solidFill>
                <a:latin typeface="Malgun Gothic"/>
              </a:defRPr>
            </a:pPr>
            <a:r>
              <a:t>THE VISION</a:t>
            </a:r>
          </a:p>
          <a:p>
            <a:pPr>
              <a:defRPr sz="2000"/>
            </a:pPr>
            <a:endParaRPr/>
          </a:p>
          <a:p>
            <a:pPr algn="ctr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“라면 자판기를 유통하는 제조사가 아닙니다.”</a:t>
            </a:r>
          </a:p>
          <a:p>
            <a:pPr algn="ctr">
              <a:defRPr sz="3000" b="1">
                <a:solidFill>
                  <a:srgbClr val="DB1124"/>
                </a:solidFill>
                <a:latin typeface="Malgun Gothic"/>
              </a:defRPr>
            </a:pPr>
            <a:r>
              <a:t>“조리 대기시간 3분을 혁신적 미디어 공간으로 전환하는</a:t>
            </a:r>
            <a:br/>
            <a:r>
              <a:t>독점적 생활밀착형 광고 플랫폼입니다.”</a:t>
            </a:r>
          </a:p>
          <a:p>
            <a:pPr>
              <a:defRPr sz="2800"/>
            </a:pPr>
            <a:endParaRPr/>
          </a:p>
          <a:p>
            <a:pPr algn="ctr">
              <a:defRPr sz="1400" b="0">
                <a:solidFill>
                  <a:srgbClr val="808080"/>
                </a:solidFill>
                <a:latin typeface="Malgun Gothic"/>
              </a:defRPr>
            </a:pPr>
            <a:r>
              <a:t>주식회사 엔에스애드홉 (Noodle Ads Hub) 드림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1739</Words>
  <Application>Microsoft Office PowerPoint</Application>
  <PresentationFormat>와이드스크린</PresentationFormat>
  <Paragraphs>228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유노알앤디22 주식회사</cp:lastModifiedBy>
  <cp:revision>2</cp:revision>
  <dcterms:created xsi:type="dcterms:W3CDTF">2013-01-27T09:14:16Z</dcterms:created>
  <dcterms:modified xsi:type="dcterms:W3CDTF">2026-06-03T03:49:24Z</dcterms:modified>
  <cp:category/>
</cp:coreProperties>
</file>